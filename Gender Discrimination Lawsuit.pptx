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Agrandir Bold" charset="1" panose="00000800000000000000"/>
      <p:regular r:id="rId34"/>
    </p:embeddedFont>
    <p:embeddedFont>
      <p:font typeface="Poppins" charset="1" panose="00000500000000000000"/>
      <p:regular r:id="rId35"/>
    </p:embeddedFont>
    <p:embeddedFont>
      <p:font typeface="Arimo Italics" charset="1" panose="020B0604020202090204"/>
      <p:regular r:id="rId36"/>
    </p:embeddedFont>
    <p:embeddedFont>
      <p:font typeface="Arimo" charset="1" panose="020B0604020202020204"/>
      <p:regular r:id="rId37"/>
    </p:embeddedFont>
    <p:embeddedFont>
      <p:font typeface="Agrandir" charset="1" panose="00000500000000000000"/>
      <p:regular r:id="rId38"/>
    </p:embeddedFont>
    <p:embeddedFont>
      <p:font typeface="Arimo Bold" charset="1" panose="020B0704020202020204"/>
      <p:regular r:id="rId39"/>
    </p:embeddedFont>
    <p:embeddedFont>
      <p:font typeface="Poppins Semi-Bold" charset="1" panose="00000700000000000000"/>
      <p:regular r:id="rId40"/>
    </p:embeddedFont>
    <p:embeddedFont>
      <p:font typeface="Poppins Bold" charset="1" panose="00000800000000000000"/>
      <p:regular r:id="rId41"/>
    </p:embeddedFont>
    <p:embeddedFont>
      <p:font typeface="Poppins Medium" charset="1" panose="000006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18.jpeg" Type="http://schemas.openxmlformats.org/officeDocument/2006/relationships/image"/><Relationship Id="rId3" Target="../media/image25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15" Target="../media/image49.svg" Type="http://schemas.openxmlformats.org/officeDocument/2006/relationships/image"/><Relationship Id="rId16" Target="../media/image50.png" Type="http://schemas.openxmlformats.org/officeDocument/2006/relationships/image"/><Relationship Id="rId17" Target="../media/image51.svg" Type="http://schemas.openxmlformats.org/officeDocument/2006/relationships/image"/><Relationship Id="rId2" Target="../media/image18.jpeg" Type="http://schemas.openxmlformats.org/officeDocument/2006/relationships/image"/><Relationship Id="rId3" Target="../media/image37.jpe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jpe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svg" Type="http://schemas.openxmlformats.org/officeDocument/2006/relationships/image"/><Relationship Id="rId2" Target="../media/image18.jpeg" Type="http://schemas.openxmlformats.org/officeDocument/2006/relationships/image"/><Relationship Id="rId3" Target="../media/image59.jpe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svg" Type="http://schemas.openxmlformats.org/officeDocument/2006/relationships/image"/><Relationship Id="rId12" Target="../media/image77.png" Type="http://schemas.openxmlformats.org/officeDocument/2006/relationships/image"/><Relationship Id="rId13" Target="../media/image78.svg" Type="http://schemas.openxmlformats.org/officeDocument/2006/relationships/image"/><Relationship Id="rId14" Target="../media/image79.png" Type="http://schemas.openxmlformats.org/officeDocument/2006/relationships/image"/><Relationship Id="rId15" Target="../media/image80.svg" Type="http://schemas.openxmlformats.org/officeDocument/2006/relationships/image"/><Relationship Id="rId16" Target="../media/image81.png" Type="http://schemas.openxmlformats.org/officeDocument/2006/relationships/image"/><Relationship Id="rId17" Target="../media/image82.svg" Type="http://schemas.openxmlformats.org/officeDocument/2006/relationships/image"/><Relationship Id="rId18" Target="../media/image83.png" Type="http://schemas.openxmlformats.org/officeDocument/2006/relationships/image"/><Relationship Id="rId19" Target="../media/image84.svg" Type="http://schemas.openxmlformats.org/officeDocument/2006/relationships/image"/><Relationship Id="rId2" Target="../media/image18.jpeg" Type="http://schemas.openxmlformats.org/officeDocument/2006/relationships/image"/><Relationship Id="rId3" Target="../media/image68.jpe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svg" Type="http://schemas.openxmlformats.org/officeDocument/2006/relationships/image"/><Relationship Id="rId11" Target="../media/image93.png" Type="http://schemas.openxmlformats.org/officeDocument/2006/relationships/image"/><Relationship Id="rId12" Target="../media/image94.svg" Type="http://schemas.openxmlformats.org/officeDocument/2006/relationships/image"/><Relationship Id="rId13" Target="../media/image95.png" Type="http://schemas.openxmlformats.org/officeDocument/2006/relationships/image"/><Relationship Id="rId14" Target="../media/image96.svg" Type="http://schemas.openxmlformats.org/officeDocument/2006/relationships/image"/><Relationship Id="rId2" Target="../media/image18.jpeg" Type="http://schemas.openxmlformats.org/officeDocument/2006/relationships/image"/><Relationship Id="rId3" Target="../media/image85.png" Type="http://schemas.openxmlformats.org/officeDocument/2006/relationships/image"/><Relationship Id="rId4" Target="../media/image86.svg" Type="http://schemas.openxmlformats.org/officeDocument/2006/relationships/image"/><Relationship Id="rId5" Target="../media/image87.svg" Type="http://schemas.openxmlformats.org/officeDocument/2006/relationships/image"/><Relationship Id="rId6" Target="../media/image88.svg" Type="http://schemas.openxmlformats.org/officeDocument/2006/relationships/image"/><Relationship Id="rId7" Target="../media/image89.png" Type="http://schemas.openxmlformats.org/officeDocument/2006/relationships/image"/><Relationship Id="rId8" Target="../media/image90.sv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97.jpeg" Type="http://schemas.openxmlformats.org/officeDocument/2006/relationships/image"/><Relationship Id="rId4" Target="../media/image98.png" Type="http://schemas.openxmlformats.org/officeDocument/2006/relationships/image"/><Relationship Id="rId5" Target="../media/image99.svg" Type="http://schemas.openxmlformats.org/officeDocument/2006/relationships/image"/><Relationship Id="rId6" Target="../media/image100.png" Type="http://schemas.openxmlformats.org/officeDocument/2006/relationships/image"/><Relationship Id="rId7" Target="../media/image101.svg" Type="http://schemas.openxmlformats.org/officeDocument/2006/relationships/image"/><Relationship Id="rId8" Target="../media/image81.png" Type="http://schemas.openxmlformats.org/officeDocument/2006/relationships/image"/><Relationship Id="rId9" Target="../media/image8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110.svg" Type="http://schemas.openxmlformats.org/officeDocument/2006/relationships/image"/><Relationship Id="rId12" Target="../media/image111.png" Type="http://schemas.openxmlformats.org/officeDocument/2006/relationships/image"/><Relationship Id="rId13" Target="../media/image112.svg" Type="http://schemas.openxmlformats.org/officeDocument/2006/relationships/image"/><Relationship Id="rId14" Target="../media/image113.png" Type="http://schemas.openxmlformats.org/officeDocument/2006/relationships/image"/><Relationship Id="rId15" Target="../media/image114.svg" Type="http://schemas.openxmlformats.org/officeDocument/2006/relationships/image"/><Relationship Id="rId2" Target="../media/image18.jpeg" Type="http://schemas.openxmlformats.org/officeDocument/2006/relationships/image"/><Relationship Id="rId3" Target="../media/image102.jpe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media/image107.png" Type="http://schemas.openxmlformats.org/officeDocument/2006/relationships/image"/><Relationship Id="rId9" Target="../media/image108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2.png" Type="http://schemas.openxmlformats.org/officeDocument/2006/relationships/image"/><Relationship Id="rId11" Target="../media/image123.svg" Type="http://schemas.openxmlformats.org/officeDocument/2006/relationships/image"/><Relationship Id="rId12" Target="../media/image124.png" Type="http://schemas.openxmlformats.org/officeDocument/2006/relationships/image"/><Relationship Id="rId13" Target="../media/image125.svg" Type="http://schemas.openxmlformats.org/officeDocument/2006/relationships/image"/><Relationship Id="rId14" Target="../media/image126.png" Type="http://schemas.openxmlformats.org/officeDocument/2006/relationships/image"/><Relationship Id="rId15" Target="../media/image127.svg" Type="http://schemas.openxmlformats.org/officeDocument/2006/relationships/image"/><Relationship Id="rId16" Target="../media/image128.png" Type="http://schemas.openxmlformats.org/officeDocument/2006/relationships/image"/><Relationship Id="rId17" Target="../media/image129.svg" Type="http://schemas.openxmlformats.org/officeDocument/2006/relationships/image"/><Relationship Id="rId2" Target="../media/image18.jpeg" Type="http://schemas.openxmlformats.org/officeDocument/2006/relationships/image"/><Relationship Id="rId3" Target="../media/image115.jpeg" Type="http://schemas.openxmlformats.org/officeDocument/2006/relationships/image"/><Relationship Id="rId4" Target="../media/image116.png" Type="http://schemas.openxmlformats.org/officeDocument/2006/relationships/image"/><Relationship Id="rId5" Target="../media/image117.svg" Type="http://schemas.openxmlformats.org/officeDocument/2006/relationships/image"/><Relationship Id="rId6" Target="../media/image118.png" Type="http://schemas.openxmlformats.org/officeDocument/2006/relationships/image"/><Relationship Id="rId7" Target="../media/image119.svg" Type="http://schemas.openxmlformats.org/officeDocument/2006/relationships/image"/><Relationship Id="rId8" Target="../media/image120.png" Type="http://schemas.openxmlformats.org/officeDocument/2006/relationships/image"/><Relationship Id="rId9" Target="../media/image121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7.svg" Type="http://schemas.openxmlformats.org/officeDocument/2006/relationships/image"/><Relationship Id="rId11" Target="../media/image138.png" Type="http://schemas.openxmlformats.org/officeDocument/2006/relationships/image"/><Relationship Id="rId12" Target="../media/image139.svg" Type="http://schemas.openxmlformats.org/officeDocument/2006/relationships/image"/><Relationship Id="rId13" Target="../media/image140.png" Type="http://schemas.openxmlformats.org/officeDocument/2006/relationships/image"/><Relationship Id="rId14" Target="../media/image141.svg" Type="http://schemas.openxmlformats.org/officeDocument/2006/relationships/image"/><Relationship Id="rId15" Target="../media/image142.png" Type="http://schemas.openxmlformats.org/officeDocument/2006/relationships/image"/><Relationship Id="rId16" Target="../media/image143.svg" Type="http://schemas.openxmlformats.org/officeDocument/2006/relationships/image"/><Relationship Id="rId17" Target="../media/image144.png" Type="http://schemas.openxmlformats.org/officeDocument/2006/relationships/image"/><Relationship Id="rId18" Target="../media/image145.svg" Type="http://schemas.openxmlformats.org/officeDocument/2006/relationships/image"/><Relationship Id="rId19" Target="../media/image146.png" Type="http://schemas.openxmlformats.org/officeDocument/2006/relationships/image"/><Relationship Id="rId2" Target="../media/image18.jpeg" Type="http://schemas.openxmlformats.org/officeDocument/2006/relationships/image"/><Relationship Id="rId20" Target="../media/image147.svg" Type="http://schemas.openxmlformats.org/officeDocument/2006/relationships/image"/><Relationship Id="rId21" Target="../media/image148.png" Type="http://schemas.openxmlformats.org/officeDocument/2006/relationships/image"/><Relationship Id="rId22" Target="../media/image149.svg" Type="http://schemas.openxmlformats.org/officeDocument/2006/relationships/image"/><Relationship Id="rId23" Target="../media/image150.png" Type="http://schemas.openxmlformats.org/officeDocument/2006/relationships/image"/><Relationship Id="rId24" Target="../media/image151.svg" Type="http://schemas.openxmlformats.org/officeDocument/2006/relationships/image"/><Relationship Id="rId25" Target="../media/image152.png" Type="http://schemas.openxmlformats.org/officeDocument/2006/relationships/image"/><Relationship Id="rId26" Target="../media/image153.svg" Type="http://schemas.openxmlformats.org/officeDocument/2006/relationships/image"/><Relationship Id="rId3" Target="../media/image130.png" Type="http://schemas.openxmlformats.org/officeDocument/2006/relationships/image"/><Relationship Id="rId4" Target="../media/image131.svg" Type="http://schemas.openxmlformats.org/officeDocument/2006/relationships/image"/><Relationship Id="rId5" Target="../media/image132.png" Type="http://schemas.openxmlformats.org/officeDocument/2006/relationships/image"/><Relationship Id="rId6" Target="../media/image133.svg" Type="http://schemas.openxmlformats.org/officeDocument/2006/relationships/image"/><Relationship Id="rId7" Target="../media/image134.png" Type="http://schemas.openxmlformats.org/officeDocument/2006/relationships/image"/><Relationship Id="rId8" Target="../media/image135.svg" Type="http://schemas.openxmlformats.org/officeDocument/2006/relationships/image"/><Relationship Id="rId9" Target="../media/image13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2.png" Type="http://schemas.openxmlformats.org/officeDocument/2006/relationships/image"/><Relationship Id="rId11" Target="../media/image163.svg" Type="http://schemas.openxmlformats.org/officeDocument/2006/relationships/image"/><Relationship Id="rId12" Target="../media/image164.png" Type="http://schemas.openxmlformats.org/officeDocument/2006/relationships/image"/><Relationship Id="rId13" Target="../media/image165.svg" Type="http://schemas.openxmlformats.org/officeDocument/2006/relationships/image"/><Relationship Id="rId14" Target="../media/image166.png" Type="http://schemas.openxmlformats.org/officeDocument/2006/relationships/image"/><Relationship Id="rId15" Target="../media/image167.svg" Type="http://schemas.openxmlformats.org/officeDocument/2006/relationships/image"/><Relationship Id="rId16" Target="../media/image168.png" Type="http://schemas.openxmlformats.org/officeDocument/2006/relationships/image"/><Relationship Id="rId17" Target="../media/image169.svg" Type="http://schemas.openxmlformats.org/officeDocument/2006/relationships/image"/><Relationship Id="rId18" Target="../media/image170.png" Type="http://schemas.openxmlformats.org/officeDocument/2006/relationships/image"/><Relationship Id="rId19" Target="../media/image171.svg" Type="http://schemas.openxmlformats.org/officeDocument/2006/relationships/image"/><Relationship Id="rId2" Target="../media/image154.png" Type="http://schemas.openxmlformats.org/officeDocument/2006/relationships/image"/><Relationship Id="rId20" Target="../media/image172.png" Type="http://schemas.openxmlformats.org/officeDocument/2006/relationships/image"/><Relationship Id="rId21" Target="../media/image173.svg" Type="http://schemas.openxmlformats.org/officeDocument/2006/relationships/image"/><Relationship Id="rId22" Target="../media/image174.png" Type="http://schemas.openxmlformats.org/officeDocument/2006/relationships/image"/><Relationship Id="rId23" Target="../media/image175.svg" Type="http://schemas.openxmlformats.org/officeDocument/2006/relationships/image"/><Relationship Id="rId24" Target="../media/image176.png" Type="http://schemas.openxmlformats.org/officeDocument/2006/relationships/image"/><Relationship Id="rId25" Target="../media/image177.svg" Type="http://schemas.openxmlformats.org/officeDocument/2006/relationships/image"/><Relationship Id="rId3" Target="../media/image155.svg" Type="http://schemas.openxmlformats.org/officeDocument/2006/relationships/image"/><Relationship Id="rId4" Target="../media/image156.png" Type="http://schemas.openxmlformats.org/officeDocument/2006/relationships/image"/><Relationship Id="rId5" Target="../media/image157.svg" Type="http://schemas.openxmlformats.org/officeDocument/2006/relationships/image"/><Relationship Id="rId6" Target="../media/image158.png" Type="http://schemas.openxmlformats.org/officeDocument/2006/relationships/image"/><Relationship Id="rId7" Target="../media/image159.svg" Type="http://schemas.openxmlformats.org/officeDocument/2006/relationships/image"/><Relationship Id="rId8" Target="../media/image160.png" Type="http://schemas.openxmlformats.org/officeDocument/2006/relationships/image"/><Relationship Id="rId9" Target="../media/image16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71784" y="3599632"/>
            <a:ext cx="4681163" cy="2358136"/>
          </a:xfrm>
          <a:custGeom>
            <a:avLst/>
            <a:gdLst/>
            <a:ahLst/>
            <a:cxnLst/>
            <a:rect r="r" b="b" t="t" l="l"/>
            <a:pathLst>
              <a:path h="2358136" w="4681163">
                <a:moveTo>
                  <a:pt x="0" y="0"/>
                </a:moveTo>
                <a:lnTo>
                  <a:pt x="4681163" y="0"/>
                </a:lnTo>
                <a:lnTo>
                  <a:pt x="4681163" y="2358136"/>
                </a:lnTo>
                <a:lnTo>
                  <a:pt x="0" y="2358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89782" y="3535680"/>
            <a:ext cx="14225536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Graded Team Assignment: Gender Discrimination Lawsuit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89782" y="5365750"/>
            <a:ext cx="5885082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Group 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2272728"/>
          <a:ext cx="16230600" cy="6985572"/>
        </p:xfrm>
        <a:graphic>
          <a:graphicData uri="http://schemas.openxmlformats.org/drawingml/2006/table">
            <a:tbl>
              <a:tblPr/>
              <a:tblGrid>
                <a:gridCol w="2508649"/>
                <a:gridCol w="6753067"/>
                <a:gridCol w="6968885"/>
              </a:tblGrid>
              <a:tr h="23285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Claim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Salary Disparity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Promotion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85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Argument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Females at the school earn less money than men, on average.</a:t>
                      </a:r>
                    </a:p>
                    <a:p>
                      <a:pPr algn="ctr">
                        <a:lnSpc>
                          <a:spcPts val="33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Female faculty at the school are less likely to be full professors, more likely to be assistant professors.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85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Target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Salary 1994, Salary 1995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Rank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399732"/>
            <a:ext cx="16230600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Claims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40691"/>
            <a:ext cx="8725508" cy="6053322"/>
          </a:xfrm>
          <a:custGeom>
            <a:avLst/>
            <a:gdLst/>
            <a:ahLst/>
            <a:cxnLst/>
            <a:rect r="r" b="b" t="t" l="l"/>
            <a:pathLst>
              <a:path h="6053322" w="8725508">
                <a:moveTo>
                  <a:pt x="0" y="0"/>
                </a:moveTo>
                <a:lnTo>
                  <a:pt x="8725508" y="0"/>
                </a:lnTo>
                <a:lnTo>
                  <a:pt x="8725508" y="6053322"/>
                </a:lnTo>
                <a:lnTo>
                  <a:pt x="0" y="6053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79222" y="2235835"/>
            <a:ext cx="7918587" cy="7077238"/>
          </a:xfrm>
          <a:custGeom>
            <a:avLst/>
            <a:gdLst/>
            <a:ahLst/>
            <a:cxnLst/>
            <a:rect r="r" b="b" t="t" l="l"/>
            <a:pathLst>
              <a:path h="7077238" w="7918587">
                <a:moveTo>
                  <a:pt x="0" y="0"/>
                </a:moveTo>
                <a:lnTo>
                  <a:pt x="7918587" y="0"/>
                </a:lnTo>
                <a:lnTo>
                  <a:pt x="7918587" y="7077238"/>
                </a:lnTo>
                <a:lnTo>
                  <a:pt x="0" y="7077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88315"/>
            <a:ext cx="16230600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Females have lower salaries and less salary increments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52363" y="2429015"/>
            <a:ext cx="9294666" cy="7563534"/>
          </a:xfrm>
          <a:custGeom>
            <a:avLst/>
            <a:gdLst/>
            <a:ahLst/>
            <a:cxnLst/>
            <a:rect r="r" b="b" t="t" l="l"/>
            <a:pathLst>
              <a:path h="7563534" w="9294666">
                <a:moveTo>
                  <a:pt x="0" y="0"/>
                </a:moveTo>
                <a:lnTo>
                  <a:pt x="9294666" y="0"/>
                </a:lnTo>
                <a:lnTo>
                  <a:pt x="9294666" y="7563534"/>
                </a:lnTo>
                <a:lnTo>
                  <a:pt x="0" y="7563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88315"/>
            <a:ext cx="16230600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Females earn less than males at the same rank, even at the top 25%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108" y="2227263"/>
            <a:ext cx="10821785" cy="7507613"/>
          </a:xfrm>
          <a:custGeom>
            <a:avLst/>
            <a:gdLst/>
            <a:ahLst/>
            <a:cxnLst/>
            <a:rect r="r" b="b" t="t" l="l"/>
            <a:pathLst>
              <a:path h="7507613" w="10821785">
                <a:moveTo>
                  <a:pt x="0" y="0"/>
                </a:moveTo>
                <a:lnTo>
                  <a:pt x="10821784" y="0"/>
                </a:lnTo>
                <a:lnTo>
                  <a:pt x="10821784" y="7507613"/>
                </a:lnTo>
                <a:lnTo>
                  <a:pt x="0" y="750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9732"/>
            <a:ext cx="16230600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Females consistently earn less than males </a:t>
            </a:r>
          </a:p>
          <a:p>
            <a:pPr algn="l">
              <a:lnSpc>
                <a:spcPts val="6160"/>
              </a:lnSpc>
            </a:pPr>
            <a:r>
              <a:rPr lang="en-US" sz="56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across all departments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60016" y="2147253"/>
            <a:ext cx="11167967" cy="7747777"/>
          </a:xfrm>
          <a:custGeom>
            <a:avLst/>
            <a:gdLst/>
            <a:ahLst/>
            <a:cxnLst/>
            <a:rect r="r" b="b" t="t" l="l"/>
            <a:pathLst>
              <a:path h="7747777" w="11167967">
                <a:moveTo>
                  <a:pt x="0" y="0"/>
                </a:moveTo>
                <a:lnTo>
                  <a:pt x="11167968" y="0"/>
                </a:lnTo>
                <a:lnTo>
                  <a:pt x="11167968" y="7747777"/>
                </a:lnTo>
                <a:lnTo>
                  <a:pt x="0" y="7747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9732"/>
            <a:ext cx="16230600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Provided the same certification, females earn less than males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5098" y="2486343"/>
            <a:ext cx="12437803" cy="7182831"/>
          </a:xfrm>
          <a:custGeom>
            <a:avLst/>
            <a:gdLst/>
            <a:ahLst/>
            <a:cxnLst/>
            <a:rect r="r" b="b" t="t" l="l"/>
            <a:pathLst>
              <a:path h="7182831" w="12437803">
                <a:moveTo>
                  <a:pt x="0" y="0"/>
                </a:moveTo>
                <a:lnTo>
                  <a:pt x="12437804" y="0"/>
                </a:lnTo>
                <a:lnTo>
                  <a:pt x="12437804" y="7182831"/>
                </a:lnTo>
                <a:lnTo>
                  <a:pt x="0" y="71828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9732"/>
            <a:ext cx="16230600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Surgery has the highest-paying department, yet it has the lowest proportion of females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1224" y="2330583"/>
            <a:ext cx="8653431" cy="7182347"/>
          </a:xfrm>
          <a:custGeom>
            <a:avLst/>
            <a:gdLst/>
            <a:ahLst/>
            <a:cxnLst/>
            <a:rect r="r" b="b" t="t" l="l"/>
            <a:pathLst>
              <a:path h="7182347" w="8653431">
                <a:moveTo>
                  <a:pt x="0" y="0"/>
                </a:moveTo>
                <a:lnTo>
                  <a:pt x="8653431" y="0"/>
                </a:lnTo>
                <a:lnTo>
                  <a:pt x="8653431" y="7182347"/>
                </a:lnTo>
                <a:lnTo>
                  <a:pt x="0" y="7182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1224" y="523557"/>
            <a:ext cx="17846776" cy="163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53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Males are more likely to be full professor, leading to higher average earnings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094655" y="2330583"/>
            <a:ext cx="8550414" cy="7182347"/>
          </a:xfrm>
          <a:custGeom>
            <a:avLst/>
            <a:gdLst/>
            <a:ahLst/>
            <a:cxnLst/>
            <a:rect r="r" b="b" t="t" l="l"/>
            <a:pathLst>
              <a:path h="7182347" w="8550414">
                <a:moveTo>
                  <a:pt x="0" y="0"/>
                </a:moveTo>
                <a:lnTo>
                  <a:pt x="8550413" y="0"/>
                </a:lnTo>
                <a:lnTo>
                  <a:pt x="8550413" y="7182347"/>
                </a:lnTo>
                <a:lnTo>
                  <a:pt x="0" y="7182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3680" y="1883992"/>
            <a:ext cx="11987341" cy="7821740"/>
          </a:xfrm>
          <a:custGeom>
            <a:avLst/>
            <a:gdLst/>
            <a:ahLst/>
            <a:cxnLst/>
            <a:rect r="r" b="b" t="t" l="l"/>
            <a:pathLst>
              <a:path h="7821740" w="11987341">
                <a:moveTo>
                  <a:pt x="0" y="0"/>
                </a:moveTo>
                <a:lnTo>
                  <a:pt x="11987342" y="0"/>
                </a:lnTo>
                <a:lnTo>
                  <a:pt x="11987342" y="7821740"/>
                </a:lnTo>
                <a:lnTo>
                  <a:pt x="0" y="7821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9257"/>
            <a:ext cx="1623060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53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Gender Proportion of Rank in each Department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3937" y="346436"/>
            <a:ext cx="1623060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53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All Departments — Salary levels (OLS)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714" y="9356868"/>
            <a:ext cx="41795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*** Model used: linear regression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5015865"/>
            <a:ext cx="9525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788460" y="9171130"/>
            <a:ext cx="1016133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represents the level of significance: * p&lt;.05, ** p&lt;.01, *** p&lt;.001;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log-model % ≈ 100·(exp(β)−1)</a:t>
            </a:r>
          </a:p>
        </p:txBody>
      </p:sp>
      <p:graphicFrame>
        <p:nvGraphicFramePr>
          <p:cNvPr name="Object 6" id="6"/>
          <p:cNvGraphicFramePr/>
          <p:nvPr/>
        </p:nvGraphicFramePr>
        <p:xfrm>
          <a:off x="313714" y="1501632"/>
          <a:ext cx="20116800" cy="2095500"/>
        </p:xfrm>
        <a:graphic>
          <a:graphicData uri="http://schemas.openxmlformats.org/presentationml/2006/ole">
            <p:oleObj imgW="24130000" imgH="6108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3937" y="523557"/>
            <a:ext cx="1623060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53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the OLS models show (m0–m3)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39238" y="5015865"/>
            <a:ext cx="9525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3937" y="2347107"/>
            <a:ext cx="15692665" cy="570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387" indent="-281694" lvl="1">
              <a:lnSpc>
                <a:spcPts val="4122"/>
              </a:lnSpc>
              <a:buFont typeface="Arial"/>
              <a:buChar char="•"/>
            </a:pPr>
            <a:r>
              <a:rPr lang="en-US" b="true" sz="260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m0</a:t>
            </a:r>
            <a:r>
              <a:rPr lang="en-US" sz="26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(Sal95 ~ Gender): Men earn +$64k (p &lt; .001).</a:t>
            </a:r>
          </a:p>
          <a:p>
            <a:pPr algn="l" marL="563387" indent="-281694" lvl="1">
              <a:lnSpc>
                <a:spcPts val="4122"/>
              </a:lnSpc>
              <a:buFont typeface="Arial"/>
              <a:buChar char="•"/>
            </a:pPr>
            <a:r>
              <a:rPr lang="en-US" b="true" sz="260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m1</a:t>
            </a:r>
            <a:r>
              <a:rPr lang="en-US" sz="26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(+ Dept + Rank + Exper + Prate + Cert + Clin): Gender n.s.; Experience ≈ +$3.3k/year; large Department and Rank effects (R² ≈ 0.90).</a:t>
            </a:r>
          </a:p>
          <a:p>
            <a:pPr algn="l" marL="563387" indent="-281694" lvl="1">
              <a:lnSpc>
                <a:spcPts val="4122"/>
              </a:lnSpc>
              <a:buFont typeface="Arial"/>
              <a:buChar char="•"/>
            </a:pPr>
            <a:r>
              <a:rPr lang="en-US" b="true" sz="260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m2</a:t>
            </a:r>
            <a:r>
              <a:rPr lang="en-US" sz="26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(log Sal94, with Rank): Gender n.s.; strong Dept/Rank and log-Experience effects (R² ≈ 0.93).</a:t>
            </a:r>
          </a:p>
          <a:p>
            <a:pPr algn="l" marL="563387" indent="-281694" lvl="1">
              <a:lnSpc>
                <a:spcPts val="4122"/>
              </a:lnSpc>
              <a:buFont typeface="Arial"/>
              <a:buChar char="•"/>
            </a:pPr>
            <a:r>
              <a:rPr lang="en-US" b="true" sz="260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m3</a:t>
            </a:r>
            <a:r>
              <a:rPr lang="en-US" sz="26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(log Sal94, no Rank): Gender β = 0.0466* → ≈ +4.8% male premium (R² ≈ 0.92).</a:t>
            </a:r>
          </a:p>
          <a:p>
            <a:pPr algn="l">
              <a:lnSpc>
                <a:spcPts val="4122"/>
              </a:lnSpc>
            </a:pPr>
          </a:p>
          <a:p>
            <a:pPr algn="l">
              <a:lnSpc>
                <a:spcPts val="4122"/>
              </a:lnSpc>
            </a:pPr>
            <a:r>
              <a:rPr lang="en-US" sz="260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Takeaway</a:t>
            </a:r>
            <a:r>
              <a:rPr lang="en-US" sz="26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: </a:t>
            </a:r>
          </a:p>
          <a:p>
            <a:pPr algn="l">
              <a:lnSpc>
                <a:spcPts val="4122"/>
              </a:lnSpc>
            </a:pPr>
            <a:r>
              <a:rPr lang="en-US" sz="26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overall gap is mostly explained by department &amp; rank composition.</a:t>
            </a:r>
          </a:p>
          <a:p>
            <a:pPr algn="l">
              <a:lnSpc>
                <a:spcPts val="4122"/>
              </a:lnSpc>
            </a:pPr>
            <a:r>
              <a:rPr lang="en-US" sz="260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Within-structure differences are small—only a modest ~4–5% male premium appears when Rank is dropped to reduce multicollinearity.</a:t>
            </a:r>
          </a:p>
          <a:p>
            <a:pPr algn="l">
              <a:lnSpc>
                <a:spcPts val="4122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32703"/>
            <a:ext cx="12087048" cy="7025597"/>
          </a:xfrm>
          <a:custGeom>
            <a:avLst/>
            <a:gdLst/>
            <a:ahLst/>
            <a:cxnLst/>
            <a:rect r="r" b="b" t="t" l="l"/>
            <a:pathLst>
              <a:path h="7025597" w="12087048">
                <a:moveTo>
                  <a:pt x="0" y="0"/>
                </a:moveTo>
                <a:lnTo>
                  <a:pt x="12087048" y="0"/>
                </a:lnTo>
                <a:lnTo>
                  <a:pt x="12087048" y="7025597"/>
                </a:lnTo>
                <a:lnTo>
                  <a:pt x="0" y="7025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9257"/>
            <a:ext cx="16230600" cy="163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53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Climbing the Ladder: Males have higher chances of reaching higher academic ranks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551993"/>
            <a:ext cx="977064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*** Model used: multi-logistic regression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5015865"/>
            <a:ext cx="9525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317318" y="4751070"/>
            <a:ext cx="394198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Overall accuracy: </a:t>
            </a:r>
            <a:r>
              <a:rPr lang="en-US" sz="21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69.7%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Industry benchmarking:</a:t>
            </a:r>
            <a:r>
              <a:rPr lang="en-US" sz="21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69 - 73%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81166" y="1480892"/>
            <a:ext cx="9385521" cy="3296664"/>
          </a:xfrm>
          <a:custGeom>
            <a:avLst/>
            <a:gdLst/>
            <a:ahLst/>
            <a:cxnLst/>
            <a:rect r="r" b="b" t="t" l="l"/>
            <a:pathLst>
              <a:path h="3296664" w="9385521">
                <a:moveTo>
                  <a:pt x="0" y="0"/>
                </a:moveTo>
                <a:lnTo>
                  <a:pt x="9385522" y="0"/>
                </a:lnTo>
                <a:lnTo>
                  <a:pt x="9385522" y="3296665"/>
                </a:lnTo>
                <a:lnTo>
                  <a:pt x="0" y="3296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9257"/>
            <a:ext cx="1623060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3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Appendix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34171" y="5076825"/>
            <a:ext cx="392836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Multilogistic regression output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82373" y="7268744"/>
            <a:ext cx="11783107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p-value of the log-odds-ratio for associate is 0.0157, and 0.00170 for full professor, which suggests that gender is a significant variable in the model.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6109" y="1542637"/>
            <a:ext cx="6900373" cy="4830261"/>
          </a:xfrm>
          <a:custGeom>
            <a:avLst/>
            <a:gdLst/>
            <a:ahLst/>
            <a:cxnLst/>
            <a:rect r="r" b="b" t="t" l="l"/>
            <a:pathLst>
              <a:path h="4830261" w="6900373">
                <a:moveTo>
                  <a:pt x="0" y="0"/>
                </a:moveTo>
                <a:lnTo>
                  <a:pt x="6900373" y="0"/>
                </a:lnTo>
                <a:lnTo>
                  <a:pt x="6900373" y="4830261"/>
                </a:lnTo>
                <a:lnTo>
                  <a:pt x="0" y="4830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9257"/>
            <a:ext cx="1623060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3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Appendix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75191" y="6742348"/>
            <a:ext cx="7282209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Odds ratio comparison against baseline group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485" y="7595788"/>
            <a:ext cx="17374515" cy="13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Using Rank as the target variable and the rest as predictor variable, we found that: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Keeping other variables constant, being a male increase the relevant chance of becoming an associate professor by about 2 times, and are nearly 4 times more likely to become a full professor.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64255"/>
            <a:ext cx="8112292" cy="6794045"/>
          </a:xfrm>
          <a:custGeom>
            <a:avLst/>
            <a:gdLst/>
            <a:ahLst/>
            <a:cxnLst/>
            <a:rect r="r" b="b" t="t" l="l"/>
            <a:pathLst>
              <a:path h="6794045" w="8112292">
                <a:moveTo>
                  <a:pt x="0" y="0"/>
                </a:moveTo>
                <a:lnTo>
                  <a:pt x="8112292" y="0"/>
                </a:lnTo>
                <a:lnTo>
                  <a:pt x="8112292" y="6794045"/>
                </a:lnTo>
                <a:lnTo>
                  <a:pt x="0" y="6794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58297" y="3232498"/>
            <a:ext cx="7194988" cy="6025802"/>
          </a:xfrm>
          <a:custGeom>
            <a:avLst/>
            <a:gdLst/>
            <a:ahLst/>
            <a:cxnLst/>
            <a:rect r="r" b="b" t="t" l="l"/>
            <a:pathLst>
              <a:path h="6025802" w="7194988">
                <a:moveTo>
                  <a:pt x="0" y="0"/>
                </a:moveTo>
                <a:lnTo>
                  <a:pt x="7194988" y="0"/>
                </a:lnTo>
                <a:lnTo>
                  <a:pt x="7194988" y="6025802"/>
                </a:lnTo>
                <a:lnTo>
                  <a:pt x="0" y="6025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99732"/>
            <a:ext cx="16230600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Females are paid less than males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29496" y="-1502854"/>
            <a:ext cx="6759147" cy="5924102"/>
            <a:chOff x="0" y="0"/>
            <a:chExt cx="1230376" cy="10783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0376" cy="1078372"/>
            </a:xfrm>
            <a:custGeom>
              <a:avLst/>
              <a:gdLst/>
              <a:ahLst/>
              <a:cxnLst/>
              <a:rect r="r" b="b" t="t" l="l"/>
              <a:pathLst>
                <a:path h="1078372" w="1230376">
                  <a:moveTo>
                    <a:pt x="45816" y="0"/>
                  </a:moveTo>
                  <a:lnTo>
                    <a:pt x="1184560" y="0"/>
                  </a:lnTo>
                  <a:cubicBezTo>
                    <a:pt x="1196712" y="0"/>
                    <a:pt x="1208365" y="4827"/>
                    <a:pt x="1216957" y="13419"/>
                  </a:cubicBezTo>
                  <a:cubicBezTo>
                    <a:pt x="1225549" y="22011"/>
                    <a:pt x="1230376" y="33665"/>
                    <a:pt x="1230376" y="45816"/>
                  </a:cubicBezTo>
                  <a:lnTo>
                    <a:pt x="1230376" y="1032556"/>
                  </a:lnTo>
                  <a:cubicBezTo>
                    <a:pt x="1230376" y="1044707"/>
                    <a:pt x="1225549" y="1056361"/>
                    <a:pt x="1216957" y="1064953"/>
                  </a:cubicBezTo>
                  <a:cubicBezTo>
                    <a:pt x="1208365" y="1073545"/>
                    <a:pt x="1196712" y="1078372"/>
                    <a:pt x="1184560" y="1078372"/>
                  </a:cubicBezTo>
                  <a:lnTo>
                    <a:pt x="45816" y="1078372"/>
                  </a:lnTo>
                  <a:cubicBezTo>
                    <a:pt x="33665" y="1078372"/>
                    <a:pt x="22011" y="1073545"/>
                    <a:pt x="13419" y="1064953"/>
                  </a:cubicBezTo>
                  <a:cubicBezTo>
                    <a:pt x="4827" y="1056361"/>
                    <a:pt x="0" y="1044707"/>
                    <a:pt x="0" y="1032556"/>
                  </a:cubicBezTo>
                  <a:lnTo>
                    <a:pt x="0" y="45816"/>
                  </a:lnTo>
                  <a:cubicBezTo>
                    <a:pt x="0" y="33665"/>
                    <a:pt x="4827" y="22011"/>
                    <a:pt x="13419" y="13419"/>
                  </a:cubicBezTo>
                  <a:cubicBezTo>
                    <a:pt x="22011" y="4827"/>
                    <a:pt x="33665" y="0"/>
                    <a:pt x="45816" y="0"/>
                  </a:cubicBezTo>
                  <a:close/>
                </a:path>
              </a:pathLst>
            </a:custGeom>
            <a:blipFill>
              <a:blip r:embed="rId3"/>
              <a:stretch>
                <a:fillRect l="-15775" t="0" r="-1577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829496" y="4778700"/>
            <a:ext cx="6759147" cy="3757349"/>
            <a:chOff x="0" y="0"/>
            <a:chExt cx="1230376" cy="6839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0376" cy="683955"/>
            </a:xfrm>
            <a:custGeom>
              <a:avLst/>
              <a:gdLst/>
              <a:ahLst/>
              <a:cxnLst/>
              <a:rect r="r" b="b" t="t" l="l"/>
              <a:pathLst>
                <a:path h="683955" w="1230376">
                  <a:moveTo>
                    <a:pt x="45816" y="0"/>
                  </a:moveTo>
                  <a:lnTo>
                    <a:pt x="1184560" y="0"/>
                  </a:lnTo>
                  <a:cubicBezTo>
                    <a:pt x="1196712" y="0"/>
                    <a:pt x="1208365" y="4827"/>
                    <a:pt x="1216957" y="13419"/>
                  </a:cubicBezTo>
                  <a:cubicBezTo>
                    <a:pt x="1225549" y="22011"/>
                    <a:pt x="1230376" y="33665"/>
                    <a:pt x="1230376" y="45816"/>
                  </a:cubicBezTo>
                  <a:lnTo>
                    <a:pt x="1230376" y="638139"/>
                  </a:lnTo>
                  <a:cubicBezTo>
                    <a:pt x="1230376" y="650290"/>
                    <a:pt x="1225549" y="661944"/>
                    <a:pt x="1216957" y="670536"/>
                  </a:cubicBezTo>
                  <a:cubicBezTo>
                    <a:pt x="1208365" y="679128"/>
                    <a:pt x="1196712" y="683955"/>
                    <a:pt x="1184560" y="683955"/>
                  </a:cubicBezTo>
                  <a:lnTo>
                    <a:pt x="45816" y="683955"/>
                  </a:lnTo>
                  <a:cubicBezTo>
                    <a:pt x="33665" y="683955"/>
                    <a:pt x="22011" y="679128"/>
                    <a:pt x="13419" y="670536"/>
                  </a:cubicBezTo>
                  <a:cubicBezTo>
                    <a:pt x="4827" y="661944"/>
                    <a:pt x="0" y="650290"/>
                    <a:pt x="0" y="638139"/>
                  </a:cubicBezTo>
                  <a:lnTo>
                    <a:pt x="0" y="45816"/>
                  </a:lnTo>
                  <a:cubicBezTo>
                    <a:pt x="0" y="33665"/>
                    <a:pt x="4827" y="22011"/>
                    <a:pt x="13419" y="13419"/>
                  </a:cubicBezTo>
                  <a:cubicBezTo>
                    <a:pt x="22011" y="4827"/>
                    <a:pt x="33665" y="0"/>
                    <a:pt x="4581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926" r="0" b="-9926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167222" y="6657374"/>
            <a:ext cx="3266942" cy="3936075"/>
          </a:xfrm>
          <a:custGeom>
            <a:avLst/>
            <a:gdLst/>
            <a:ahLst/>
            <a:cxnLst/>
            <a:rect r="r" b="b" t="t" l="l"/>
            <a:pathLst>
              <a:path h="3936075" w="3266942">
                <a:moveTo>
                  <a:pt x="0" y="0"/>
                </a:moveTo>
                <a:lnTo>
                  <a:pt x="3266942" y="0"/>
                </a:lnTo>
                <a:lnTo>
                  <a:pt x="3266942" y="3936075"/>
                </a:lnTo>
                <a:lnTo>
                  <a:pt x="0" y="3936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293220" y="-598202"/>
            <a:ext cx="3639103" cy="3713370"/>
          </a:xfrm>
          <a:custGeom>
            <a:avLst/>
            <a:gdLst/>
            <a:ahLst/>
            <a:cxnLst/>
            <a:rect r="r" b="b" t="t" l="l"/>
            <a:pathLst>
              <a:path h="3713370" w="3639103">
                <a:moveTo>
                  <a:pt x="0" y="3713370"/>
                </a:moveTo>
                <a:lnTo>
                  <a:pt x="3639103" y="3713370"/>
                </a:lnTo>
                <a:lnTo>
                  <a:pt x="3639103" y="0"/>
                </a:lnTo>
                <a:lnTo>
                  <a:pt x="0" y="0"/>
                </a:lnTo>
                <a:lnTo>
                  <a:pt x="0" y="3713370"/>
                </a:lnTo>
                <a:close/>
              </a:path>
            </a:pathLst>
          </a:custGeom>
          <a:blipFill>
            <a:blip r:embed="rId7">
              <a:alphaModFix amt="1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171784" y="3599632"/>
            <a:ext cx="4681163" cy="2358136"/>
          </a:xfrm>
          <a:custGeom>
            <a:avLst/>
            <a:gdLst/>
            <a:ahLst/>
            <a:cxnLst/>
            <a:rect r="r" b="b" t="t" l="l"/>
            <a:pathLst>
              <a:path h="2358136" w="4681163">
                <a:moveTo>
                  <a:pt x="0" y="0"/>
                </a:moveTo>
                <a:lnTo>
                  <a:pt x="4681163" y="0"/>
                </a:lnTo>
                <a:lnTo>
                  <a:pt x="4681163" y="2358136"/>
                </a:lnTo>
                <a:lnTo>
                  <a:pt x="0" y="23581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89782" y="3535680"/>
            <a:ext cx="7154218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Pitch Deck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89782" y="5413375"/>
            <a:ext cx="588508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Redefining Everyday Indulgence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40764" y="1574734"/>
            <a:ext cx="370323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Studio Shodwe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9782" y="7068697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9782" y="7476367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Avery Davis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69581" y="9191625"/>
            <a:ext cx="45457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6228" y="607629"/>
            <a:ext cx="14328929" cy="272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Using Rank as the target variable and the rest as predictor variable, we found that:</a:t>
            </a:r>
          </a:p>
          <a:p>
            <a:pPr algn="l">
              <a:lnSpc>
                <a:spcPts val="3520"/>
              </a:lnSpc>
            </a:pPr>
          </a:p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b="true" sz="3200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Keeping other variables constant, being a male increase the relevant chance of becoming an associate professor by about 2 times, and are nearly 4 times more likely to become a full professor.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09167" y="1515034"/>
            <a:ext cx="6754304" cy="5024800"/>
            <a:chOff x="0" y="0"/>
            <a:chExt cx="993688" cy="7392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3688" cy="739245"/>
            </a:xfrm>
            <a:custGeom>
              <a:avLst/>
              <a:gdLst/>
              <a:ahLst/>
              <a:cxnLst/>
              <a:rect r="r" b="b" t="t" l="l"/>
              <a:pathLst>
                <a:path h="739245" w="993688">
                  <a:moveTo>
                    <a:pt x="57311" y="0"/>
                  </a:moveTo>
                  <a:lnTo>
                    <a:pt x="936377" y="0"/>
                  </a:lnTo>
                  <a:cubicBezTo>
                    <a:pt x="968029" y="0"/>
                    <a:pt x="993688" y="25659"/>
                    <a:pt x="993688" y="57311"/>
                  </a:cubicBezTo>
                  <a:lnTo>
                    <a:pt x="993688" y="681934"/>
                  </a:lnTo>
                  <a:cubicBezTo>
                    <a:pt x="993688" y="713586"/>
                    <a:pt x="968029" y="739245"/>
                    <a:pt x="936377" y="739245"/>
                  </a:cubicBezTo>
                  <a:lnTo>
                    <a:pt x="57311" y="739245"/>
                  </a:lnTo>
                  <a:cubicBezTo>
                    <a:pt x="42111" y="739245"/>
                    <a:pt x="27534" y="733207"/>
                    <a:pt x="16786" y="722459"/>
                  </a:cubicBezTo>
                  <a:cubicBezTo>
                    <a:pt x="6038" y="711711"/>
                    <a:pt x="0" y="697134"/>
                    <a:pt x="0" y="681934"/>
                  </a:cubicBezTo>
                  <a:lnTo>
                    <a:pt x="0" y="57311"/>
                  </a:lnTo>
                  <a:cubicBezTo>
                    <a:pt x="0" y="25659"/>
                    <a:pt x="25659" y="0"/>
                    <a:pt x="57311" y="0"/>
                  </a:cubicBezTo>
                  <a:close/>
                </a:path>
              </a:pathLst>
            </a:custGeom>
            <a:blipFill>
              <a:blip r:embed="rId3"/>
              <a:stretch>
                <a:fillRect l="-5830" t="0" r="-583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939076" y="5395838"/>
            <a:ext cx="5395252" cy="3392265"/>
          </a:xfrm>
          <a:custGeom>
            <a:avLst/>
            <a:gdLst/>
            <a:ahLst/>
            <a:cxnLst/>
            <a:rect r="r" b="b" t="t" l="l"/>
            <a:pathLst>
              <a:path h="3392265" w="5395252">
                <a:moveTo>
                  <a:pt x="0" y="0"/>
                </a:moveTo>
                <a:lnTo>
                  <a:pt x="5395253" y="0"/>
                </a:lnTo>
                <a:lnTo>
                  <a:pt x="5395253" y="3392265"/>
                </a:lnTo>
                <a:lnTo>
                  <a:pt x="0" y="3392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30250" y="5601945"/>
            <a:ext cx="740721" cy="740721"/>
          </a:xfrm>
          <a:custGeom>
            <a:avLst/>
            <a:gdLst/>
            <a:ahLst/>
            <a:cxnLst/>
            <a:rect r="r" b="b" t="t" l="l"/>
            <a:pathLst>
              <a:path h="740721" w="740721">
                <a:moveTo>
                  <a:pt x="0" y="0"/>
                </a:moveTo>
                <a:lnTo>
                  <a:pt x="740721" y="0"/>
                </a:lnTo>
                <a:lnTo>
                  <a:pt x="740721" y="740721"/>
                </a:lnTo>
                <a:lnTo>
                  <a:pt x="0" y="74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2230250" y="7396454"/>
            <a:ext cx="740721" cy="740721"/>
          </a:xfrm>
          <a:custGeom>
            <a:avLst/>
            <a:gdLst/>
            <a:ahLst/>
            <a:cxnLst/>
            <a:rect r="r" b="b" t="t" l="l"/>
            <a:pathLst>
              <a:path h="740721" w="740721">
                <a:moveTo>
                  <a:pt x="740721" y="0"/>
                </a:moveTo>
                <a:lnTo>
                  <a:pt x="0" y="0"/>
                </a:lnTo>
                <a:lnTo>
                  <a:pt x="0" y="740722"/>
                </a:lnTo>
                <a:lnTo>
                  <a:pt x="740721" y="740722"/>
                </a:lnTo>
                <a:lnTo>
                  <a:pt x="7407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006098" y="5972305"/>
            <a:ext cx="1360441" cy="957411"/>
          </a:xfrm>
          <a:custGeom>
            <a:avLst/>
            <a:gdLst/>
            <a:ahLst/>
            <a:cxnLst/>
            <a:rect r="r" b="b" t="t" l="l"/>
            <a:pathLst>
              <a:path h="957411" w="1360441">
                <a:moveTo>
                  <a:pt x="0" y="0"/>
                </a:moveTo>
                <a:lnTo>
                  <a:pt x="1360442" y="0"/>
                </a:lnTo>
                <a:lnTo>
                  <a:pt x="1360442" y="957411"/>
                </a:lnTo>
                <a:lnTo>
                  <a:pt x="0" y="9574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423042">
            <a:off x="5721773" y="8367044"/>
            <a:ext cx="3871758" cy="2531162"/>
          </a:xfrm>
          <a:custGeom>
            <a:avLst/>
            <a:gdLst/>
            <a:ahLst/>
            <a:cxnLst/>
            <a:rect r="r" b="b" t="t" l="l"/>
            <a:pathLst>
              <a:path h="2531162" w="3871758">
                <a:moveTo>
                  <a:pt x="0" y="0"/>
                </a:moveTo>
                <a:lnTo>
                  <a:pt x="3871758" y="0"/>
                </a:lnTo>
                <a:lnTo>
                  <a:pt x="3871758" y="2531162"/>
                </a:lnTo>
                <a:lnTo>
                  <a:pt x="0" y="25311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44199" y="7239980"/>
            <a:ext cx="4484239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Everyday indulgence is now a lifestyl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e, not a luxury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30250" y="2382650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Opportunity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28826" y="7239980"/>
            <a:ext cx="449849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Taste, convenience, and quality ar</a:t>
            </a:r>
            <a:r>
              <a:rPr lang="en-US" b="true" sz="24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e expected as 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8826" y="5307460"/>
            <a:ext cx="4498495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Consumers crave sensory experiences with design at th</a:t>
            </a:r>
            <a:r>
              <a:rPr lang="en-US" b="true" sz="24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e 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30250" y="1448359"/>
            <a:ext cx="348203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Studio Shodwe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42039" y="1422693"/>
            <a:ext cx="9831861" cy="8197314"/>
          </a:xfrm>
          <a:custGeom>
            <a:avLst/>
            <a:gdLst/>
            <a:ahLst/>
            <a:cxnLst/>
            <a:rect r="r" b="b" t="t" l="l"/>
            <a:pathLst>
              <a:path h="8197314" w="9831861">
                <a:moveTo>
                  <a:pt x="0" y="0"/>
                </a:moveTo>
                <a:lnTo>
                  <a:pt x="9831861" y="0"/>
                </a:lnTo>
                <a:lnTo>
                  <a:pt x="9831861" y="8197314"/>
                </a:lnTo>
                <a:lnTo>
                  <a:pt x="0" y="8197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3154" y="117543"/>
            <a:ext cx="10869001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salary increment 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5034" y="4608670"/>
            <a:ext cx="8334446" cy="3315305"/>
            <a:chOff x="0" y="0"/>
            <a:chExt cx="1038683" cy="4131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683" cy="413171"/>
            </a:xfrm>
            <a:custGeom>
              <a:avLst/>
              <a:gdLst/>
              <a:ahLst/>
              <a:cxnLst/>
              <a:rect r="r" b="b" t="t" l="l"/>
              <a:pathLst>
                <a:path h="413171" w="1038683">
                  <a:moveTo>
                    <a:pt x="46445" y="0"/>
                  </a:moveTo>
                  <a:lnTo>
                    <a:pt x="992237" y="0"/>
                  </a:lnTo>
                  <a:cubicBezTo>
                    <a:pt x="1017889" y="0"/>
                    <a:pt x="1038683" y="20794"/>
                    <a:pt x="1038683" y="46445"/>
                  </a:cubicBezTo>
                  <a:lnTo>
                    <a:pt x="1038683" y="366726"/>
                  </a:lnTo>
                  <a:cubicBezTo>
                    <a:pt x="1038683" y="392377"/>
                    <a:pt x="1017889" y="413171"/>
                    <a:pt x="992237" y="413171"/>
                  </a:cubicBezTo>
                  <a:lnTo>
                    <a:pt x="46445" y="413171"/>
                  </a:lnTo>
                  <a:cubicBezTo>
                    <a:pt x="20794" y="413171"/>
                    <a:pt x="0" y="392377"/>
                    <a:pt x="0" y="366726"/>
                  </a:cubicBezTo>
                  <a:lnTo>
                    <a:pt x="0" y="46445"/>
                  </a:lnTo>
                  <a:cubicBezTo>
                    <a:pt x="0" y="20794"/>
                    <a:pt x="20794" y="0"/>
                    <a:pt x="4644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519" r="0" b="-5797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742084" y="8353350"/>
            <a:ext cx="380286" cy="379810"/>
          </a:xfrm>
          <a:custGeom>
            <a:avLst/>
            <a:gdLst/>
            <a:ahLst/>
            <a:cxnLst/>
            <a:rect r="r" b="b" t="t" l="l"/>
            <a:pathLst>
              <a:path h="379810" w="380286">
                <a:moveTo>
                  <a:pt x="0" y="0"/>
                </a:moveTo>
                <a:lnTo>
                  <a:pt x="380286" y="0"/>
                </a:lnTo>
                <a:lnTo>
                  <a:pt x="380286" y="379811"/>
                </a:lnTo>
                <a:lnTo>
                  <a:pt x="0" y="379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21812" y="3599976"/>
            <a:ext cx="737447" cy="719933"/>
          </a:xfrm>
          <a:custGeom>
            <a:avLst/>
            <a:gdLst/>
            <a:ahLst/>
            <a:cxnLst/>
            <a:rect r="r" b="b" t="t" l="l"/>
            <a:pathLst>
              <a:path h="719933" w="737447">
                <a:moveTo>
                  <a:pt x="0" y="0"/>
                </a:moveTo>
                <a:lnTo>
                  <a:pt x="737448" y="0"/>
                </a:lnTo>
                <a:lnTo>
                  <a:pt x="737448" y="719933"/>
                </a:lnTo>
                <a:lnTo>
                  <a:pt x="0" y="719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21812" y="4802583"/>
            <a:ext cx="737447" cy="719933"/>
          </a:xfrm>
          <a:custGeom>
            <a:avLst/>
            <a:gdLst/>
            <a:ahLst/>
            <a:cxnLst/>
            <a:rect r="r" b="b" t="t" l="l"/>
            <a:pathLst>
              <a:path h="719933" w="737447">
                <a:moveTo>
                  <a:pt x="0" y="0"/>
                </a:moveTo>
                <a:lnTo>
                  <a:pt x="737448" y="0"/>
                </a:lnTo>
                <a:lnTo>
                  <a:pt x="737448" y="719934"/>
                </a:lnTo>
                <a:lnTo>
                  <a:pt x="0" y="7199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321812" y="6153148"/>
            <a:ext cx="737447" cy="719933"/>
          </a:xfrm>
          <a:custGeom>
            <a:avLst/>
            <a:gdLst/>
            <a:ahLst/>
            <a:cxnLst/>
            <a:rect r="r" b="b" t="t" l="l"/>
            <a:pathLst>
              <a:path h="719933" w="737447">
                <a:moveTo>
                  <a:pt x="0" y="0"/>
                </a:moveTo>
                <a:lnTo>
                  <a:pt x="737448" y="0"/>
                </a:lnTo>
                <a:lnTo>
                  <a:pt x="737448" y="719933"/>
                </a:lnTo>
                <a:lnTo>
                  <a:pt x="0" y="7199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068555" y="7539831"/>
            <a:ext cx="2915260" cy="2952162"/>
          </a:xfrm>
          <a:custGeom>
            <a:avLst/>
            <a:gdLst/>
            <a:ahLst/>
            <a:cxnLst/>
            <a:rect r="r" b="b" t="t" l="l"/>
            <a:pathLst>
              <a:path h="2952162" w="2915260">
                <a:moveTo>
                  <a:pt x="0" y="0"/>
                </a:moveTo>
                <a:lnTo>
                  <a:pt x="2915260" y="0"/>
                </a:lnTo>
                <a:lnTo>
                  <a:pt x="2915260" y="2952162"/>
                </a:lnTo>
                <a:lnTo>
                  <a:pt x="0" y="29521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31949" y="7887802"/>
            <a:ext cx="4837818" cy="1669047"/>
          </a:xfrm>
          <a:custGeom>
            <a:avLst/>
            <a:gdLst/>
            <a:ahLst/>
            <a:cxnLst/>
            <a:rect r="r" b="b" t="t" l="l"/>
            <a:pathLst>
              <a:path h="1669047" w="4837818">
                <a:moveTo>
                  <a:pt x="0" y="0"/>
                </a:moveTo>
                <a:lnTo>
                  <a:pt x="4837818" y="0"/>
                </a:lnTo>
                <a:lnTo>
                  <a:pt x="4837818" y="1669047"/>
                </a:lnTo>
                <a:lnTo>
                  <a:pt x="0" y="16690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80114" y="7887802"/>
            <a:ext cx="4837818" cy="1669047"/>
          </a:xfrm>
          <a:custGeom>
            <a:avLst/>
            <a:gdLst/>
            <a:ahLst/>
            <a:cxnLst/>
            <a:rect r="r" b="b" t="t" l="l"/>
            <a:pathLst>
              <a:path h="1669047" w="4837818">
                <a:moveTo>
                  <a:pt x="0" y="0"/>
                </a:moveTo>
                <a:lnTo>
                  <a:pt x="4837817" y="0"/>
                </a:lnTo>
                <a:lnTo>
                  <a:pt x="4837817" y="1669047"/>
                </a:lnTo>
                <a:lnTo>
                  <a:pt x="0" y="16690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30374">
            <a:off x="7934354" y="267116"/>
            <a:ext cx="4124407" cy="2670553"/>
          </a:xfrm>
          <a:custGeom>
            <a:avLst/>
            <a:gdLst/>
            <a:ahLst/>
            <a:cxnLst/>
            <a:rect r="r" b="b" t="t" l="l"/>
            <a:pathLst>
              <a:path h="2670553" w="4124407">
                <a:moveTo>
                  <a:pt x="0" y="0"/>
                </a:moveTo>
                <a:lnTo>
                  <a:pt x="4124406" y="0"/>
                </a:lnTo>
                <a:lnTo>
                  <a:pt x="4124406" y="2670553"/>
                </a:lnTo>
                <a:lnTo>
                  <a:pt x="0" y="26705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2084" y="2294020"/>
            <a:ext cx="665864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Who We 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18112" y="3390030"/>
            <a:ext cx="408015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 creative brand merging artisanal flavor with mod</a:t>
            </a:r>
            <a:r>
              <a:rPr lang="en-US" b="true" sz="2000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ern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17272" y="6119415"/>
            <a:ext cx="408015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Red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fin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ng ta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it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innov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on a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 el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egance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18112" y="4859161"/>
            <a:ext cx="461677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Transf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ormi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ng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or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ry mo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nt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 c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ura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ex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er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</a:t>
            </a:r>
            <a:r>
              <a:rPr lang="en-US" b="true" sz="2000" strike="noStrike" u="none">
                <a:solidFill>
                  <a:srgbClr val="5170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41945" y="8297510"/>
            <a:ext cx="399035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90932" y="1557115"/>
            <a:ext cx="348203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Studio Shodwe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009039">
            <a:off x="6601672" y="3170836"/>
            <a:ext cx="3590662" cy="3110411"/>
          </a:xfrm>
          <a:custGeom>
            <a:avLst/>
            <a:gdLst/>
            <a:ahLst/>
            <a:cxnLst/>
            <a:rect r="r" b="b" t="t" l="l"/>
            <a:pathLst>
              <a:path h="3110411" w="3590662">
                <a:moveTo>
                  <a:pt x="3590662" y="0"/>
                </a:moveTo>
                <a:lnTo>
                  <a:pt x="0" y="0"/>
                </a:lnTo>
                <a:lnTo>
                  <a:pt x="0" y="3110411"/>
                </a:lnTo>
                <a:lnTo>
                  <a:pt x="3590662" y="3110411"/>
                </a:lnTo>
                <a:lnTo>
                  <a:pt x="359066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457379" y="1263557"/>
            <a:ext cx="7041302" cy="7759885"/>
            <a:chOff x="0" y="0"/>
            <a:chExt cx="1069836" cy="1179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5"/>
              <a:stretch>
                <a:fillRect l="-32705" t="0" r="-3270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816629" y="4133727"/>
            <a:ext cx="1783417" cy="1783417"/>
          </a:xfrm>
          <a:custGeom>
            <a:avLst/>
            <a:gdLst/>
            <a:ahLst/>
            <a:cxnLst/>
            <a:rect r="r" b="b" t="t" l="l"/>
            <a:pathLst>
              <a:path h="1783417" w="1783417">
                <a:moveTo>
                  <a:pt x="0" y="0"/>
                </a:moveTo>
                <a:lnTo>
                  <a:pt x="1783417" y="0"/>
                </a:lnTo>
                <a:lnTo>
                  <a:pt x="1783417" y="1783417"/>
                </a:lnTo>
                <a:lnTo>
                  <a:pt x="0" y="1783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35537" y="4559618"/>
            <a:ext cx="1278086" cy="983593"/>
          </a:xfrm>
          <a:custGeom>
            <a:avLst/>
            <a:gdLst/>
            <a:ahLst/>
            <a:cxnLst/>
            <a:rect r="r" b="b" t="t" l="l"/>
            <a:pathLst>
              <a:path h="983593" w="1278086">
                <a:moveTo>
                  <a:pt x="0" y="0"/>
                </a:moveTo>
                <a:lnTo>
                  <a:pt x="1278086" y="0"/>
                </a:lnTo>
                <a:lnTo>
                  <a:pt x="1278086" y="983593"/>
                </a:lnTo>
                <a:lnTo>
                  <a:pt x="0" y="9835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16629" y="1632454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Signature Products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6629" y="7089323"/>
            <a:ext cx="6580374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Our signatu</a:t>
            </a:r>
            <a:r>
              <a:rPr lang="en-US" sz="20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re offerings include daily indulgence collections, limited-edition sensory kits, and art-driven packaging designed to be cherished as much as consumed.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6629" y="6407371"/>
            <a:ext cx="565123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Where Flav</a:t>
            </a:r>
            <a:r>
              <a:rPr lang="en-US" sz="2400" b="true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or Meets Artful Design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57379" y="1263557"/>
            <a:ext cx="7041302" cy="7759885"/>
            <a:chOff x="0" y="0"/>
            <a:chExt cx="1069836" cy="11790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3"/>
              <a:stretch>
                <a:fillRect l="-32705" t="0" r="-32705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749954" y="7429499"/>
            <a:ext cx="450416" cy="437467"/>
          </a:xfrm>
          <a:custGeom>
            <a:avLst/>
            <a:gdLst/>
            <a:ahLst/>
            <a:cxnLst/>
            <a:rect r="r" b="b" t="t" l="l"/>
            <a:pathLst>
              <a:path h="437467" w="450416">
                <a:moveTo>
                  <a:pt x="0" y="0"/>
                </a:moveTo>
                <a:lnTo>
                  <a:pt x="450416" y="0"/>
                </a:lnTo>
                <a:lnTo>
                  <a:pt x="450416" y="437467"/>
                </a:lnTo>
                <a:lnTo>
                  <a:pt x="0" y="437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2871" y="4133727"/>
            <a:ext cx="1783417" cy="1783417"/>
          </a:xfrm>
          <a:custGeom>
            <a:avLst/>
            <a:gdLst/>
            <a:ahLst/>
            <a:cxnLst/>
            <a:rect r="r" b="b" t="t" l="l"/>
            <a:pathLst>
              <a:path h="1783417" w="1783417">
                <a:moveTo>
                  <a:pt x="0" y="0"/>
                </a:moveTo>
                <a:lnTo>
                  <a:pt x="1783417" y="0"/>
                </a:lnTo>
                <a:lnTo>
                  <a:pt x="1783417" y="1783417"/>
                </a:lnTo>
                <a:lnTo>
                  <a:pt x="0" y="1783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93800" y="4428999"/>
            <a:ext cx="1161560" cy="1192873"/>
          </a:xfrm>
          <a:custGeom>
            <a:avLst/>
            <a:gdLst/>
            <a:ahLst/>
            <a:cxnLst/>
            <a:rect r="r" b="b" t="t" l="l"/>
            <a:pathLst>
              <a:path h="1192873" w="1161560">
                <a:moveTo>
                  <a:pt x="0" y="0"/>
                </a:moveTo>
                <a:lnTo>
                  <a:pt x="1161560" y="0"/>
                </a:lnTo>
                <a:lnTo>
                  <a:pt x="1161560" y="1192873"/>
                </a:lnTo>
                <a:lnTo>
                  <a:pt x="0" y="11928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64283" y="4759762"/>
            <a:ext cx="2818585" cy="2314763"/>
          </a:xfrm>
          <a:custGeom>
            <a:avLst/>
            <a:gdLst/>
            <a:ahLst/>
            <a:cxnLst/>
            <a:rect r="r" b="b" t="t" l="l"/>
            <a:pathLst>
              <a:path h="2314763" w="2818585">
                <a:moveTo>
                  <a:pt x="0" y="0"/>
                </a:moveTo>
                <a:lnTo>
                  <a:pt x="2818584" y="0"/>
                </a:lnTo>
                <a:lnTo>
                  <a:pt x="2818584" y="2314763"/>
                </a:lnTo>
                <a:lnTo>
                  <a:pt x="0" y="2314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16629" y="1632454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Makes Us Unique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6161" y="7320866"/>
            <a:ext cx="6580374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What </a:t>
            </a:r>
            <a:r>
              <a:rPr lang="en-US" sz="20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makes us unique is the fusion of culinary craftsmanship with artful presentation, collaborations with creative experts, and a commitment to elevated yet sustainable details.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6629" y="6308138"/>
            <a:ext cx="4361213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sz="2400" b="true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rafted with Art, Elevated with Care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83215" y="1795162"/>
            <a:ext cx="8889750" cy="4016337"/>
            <a:chOff x="0" y="0"/>
            <a:chExt cx="1377255" cy="6222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7255" cy="622236"/>
            </a:xfrm>
            <a:custGeom>
              <a:avLst/>
              <a:gdLst/>
              <a:ahLst/>
              <a:cxnLst/>
              <a:rect r="r" b="b" t="t" l="l"/>
              <a:pathLst>
                <a:path h="622236" w="1377255">
                  <a:moveTo>
                    <a:pt x="26126" y="0"/>
                  </a:moveTo>
                  <a:lnTo>
                    <a:pt x="1351129" y="0"/>
                  </a:lnTo>
                  <a:cubicBezTo>
                    <a:pt x="1365558" y="0"/>
                    <a:pt x="1377255" y="11697"/>
                    <a:pt x="1377255" y="26126"/>
                  </a:cubicBezTo>
                  <a:lnTo>
                    <a:pt x="1377255" y="596109"/>
                  </a:lnTo>
                  <a:cubicBezTo>
                    <a:pt x="1377255" y="610539"/>
                    <a:pt x="1365558" y="622236"/>
                    <a:pt x="1351129" y="622236"/>
                  </a:cubicBezTo>
                  <a:lnTo>
                    <a:pt x="26126" y="622236"/>
                  </a:lnTo>
                  <a:cubicBezTo>
                    <a:pt x="11697" y="622236"/>
                    <a:pt x="0" y="610539"/>
                    <a:pt x="0" y="596109"/>
                  </a:cubicBezTo>
                  <a:lnTo>
                    <a:pt x="0" y="26126"/>
                  </a:lnTo>
                  <a:cubicBezTo>
                    <a:pt x="0" y="11697"/>
                    <a:pt x="11697" y="0"/>
                    <a:pt x="2612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3733" r="0" b="-2373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330629" y="2017314"/>
            <a:ext cx="7726929" cy="6451986"/>
          </a:xfrm>
          <a:custGeom>
            <a:avLst/>
            <a:gdLst/>
            <a:ahLst/>
            <a:cxnLst/>
            <a:rect r="r" b="b" t="t" l="l"/>
            <a:pathLst>
              <a:path h="6451986" w="7726929">
                <a:moveTo>
                  <a:pt x="0" y="0"/>
                </a:moveTo>
                <a:lnTo>
                  <a:pt x="7726930" y="0"/>
                </a:lnTo>
                <a:lnTo>
                  <a:pt x="7726930" y="6451986"/>
                </a:lnTo>
                <a:lnTo>
                  <a:pt x="0" y="6451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2583" y="3360212"/>
            <a:ext cx="765046" cy="717231"/>
          </a:xfrm>
          <a:custGeom>
            <a:avLst/>
            <a:gdLst/>
            <a:ahLst/>
            <a:cxnLst/>
            <a:rect r="r" b="b" t="t" l="l"/>
            <a:pathLst>
              <a:path h="717231" w="765046">
                <a:moveTo>
                  <a:pt x="0" y="0"/>
                </a:moveTo>
                <a:lnTo>
                  <a:pt x="765046" y="0"/>
                </a:lnTo>
                <a:lnTo>
                  <a:pt x="765046" y="717231"/>
                </a:lnTo>
                <a:lnTo>
                  <a:pt x="0" y="717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2583" y="4884692"/>
            <a:ext cx="801375" cy="717231"/>
          </a:xfrm>
          <a:custGeom>
            <a:avLst/>
            <a:gdLst/>
            <a:ahLst/>
            <a:cxnLst/>
            <a:rect r="r" b="b" t="t" l="l"/>
            <a:pathLst>
              <a:path h="717231" w="801375">
                <a:moveTo>
                  <a:pt x="0" y="0"/>
                </a:moveTo>
                <a:lnTo>
                  <a:pt x="801375" y="0"/>
                </a:lnTo>
                <a:lnTo>
                  <a:pt x="801375" y="717230"/>
                </a:lnTo>
                <a:lnTo>
                  <a:pt x="0" y="7172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92583" y="6416110"/>
            <a:ext cx="801375" cy="717231"/>
          </a:xfrm>
          <a:custGeom>
            <a:avLst/>
            <a:gdLst/>
            <a:ahLst/>
            <a:cxnLst/>
            <a:rect r="r" b="b" t="t" l="l"/>
            <a:pathLst>
              <a:path h="717231" w="801375">
                <a:moveTo>
                  <a:pt x="0" y="0"/>
                </a:moveTo>
                <a:lnTo>
                  <a:pt x="801375" y="0"/>
                </a:lnTo>
                <a:lnTo>
                  <a:pt x="801375" y="717230"/>
                </a:lnTo>
                <a:lnTo>
                  <a:pt x="0" y="717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449504" y="7737067"/>
            <a:ext cx="2809796" cy="2809796"/>
          </a:xfrm>
          <a:custGeom>
            <a:avLst/>
            <a:gdLst/>
            <a:ahLst/>
            <a:cxnLst/>
            <a:rect r="r" b="b" t="t" l="l"/>
            <a:pathLst>
              <a:path h="2809796" w="2809796">
                <a:moveTo>
                  <a:pt x="0" y="0"/>
                </a:moveTo>
                <a:lnTo>
                  <a:pt x="2809796" y="0"/>
                </a:lnTo>
                <a:lnTo>
                  <a:pt x="2809796" y="2809796"/>
                </a:lnTo>
                <a:lnTo>
                  <a:pt x="0" y="2809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10569">
            <a:off x="2269691" y="-949611"/>
            <a:ext cx="4509370" cy="4114800"/>
          </a:xfrm>
          <a:custGeom>
            <a:avLst/>
            <a:gdLst/>
            <a:ahLst/>
            <a:cxnLst/>
            <a:rect r="r" b="b" t="t" l="l"/>
            <a:pathLst>
              <a:path h="4114800" w="4509370">
                <a:moveTo>
                  <a:pt x="0" y="0"/>
                </a:moveTo>
                <a:lnTo>
                  <a:pt x="4509370" y="0"/>
                </a:lnTo>
                <a:lnTo>
                  <a:pt x="4509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83215" y="8901467"/>
            <a:ext cx="1260785" cy="1645396"/>
          </a:xfrm>
          <a:custGeom>
            <a:avLst/>
            <a:gdLst/>
            <a:ahLst/>
            <a:cxnLst/>
            <a:rect r="r" b="b" t="t" l="l"/>
            <a:pathLst>
              <a:path h="1645396" w="1260785">
                <a:moveTo>
                  <a:pt x="0" y="0"/>
                </a:moveTo>
                <a:lnTo>
                  <a:pt x="1260785" y="0"/>
                </a:lnTo>
                <a:lnTo>
                  <a:pt x="1260785" y="1645396"/>
                </a:lnTo>
                <a:lnTo>
                  <a:pt x="0" y="16453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01012" y="6020429"/>
            <a:ext cx="7266401" cy="1296040"/>
          </a:xfrm>
          <a:custGeom>
            <a:avLst/>
            <a:gdLst/>
            <a:ahLst/>
            <a:cxnLst/>
            <a:rect r="r" b="b" t="t" l="l"/>
            <a:pathLst>
              <a:path h="1296040" w="7266401">
                <a:moveTo>
                  <a:pt x="0" y="0"/>
                </a:moveTo>
                <a:lnTo>
                  <a:pt x="7266401" y="0"/>
                </a:lnTo>
                <a:lnTo>
                  <a:pt x="7266401" y="1296040"/>
                </a:lnTo>
                <a:lnTo>
                  <a:pt x="0" y="129604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34796" r="-1844" b="-2365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480440" y="6104090"/>
            <a:ext cx="7373963" cy="107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8"/>
              </a:lnSpc>
            </a:pPr>
            <a:r>
              <a:rPr lang="en-US" sz="6253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Target Audience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14379" y="3293537"/>
            <a:ext cx="373912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b="true" sz="2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esthetic-focused Millennials &amp; Gen 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14379" y="4673394"/>
            <a:ext cx="436759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Urban professional</a:t>
            </a:r>
            <a:r>
              <a:rPr lang="en-US" b="true" sz="2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 and creatives seeking meaningful treats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14379" y="6308839"/>
            <a:ext cx="3739123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Retail</a:t>
            </a:r>
            <a:r>
              <a:rPr lang="en-US" b="true" sz="2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partners drawn to storytelling and experiential design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710514" y="6276871"/>
            <a:ext cx="4662112" cy="0"/>
          </a:xfrm>
          <a:prstGeom prst="line">
            <a:avLst/>
          </a:prstGeom>
          <a:ln cap="flat" w="95250">
            <a:solidFill>
              <a:srgbClr val="5170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 flipV="true">
            <a:off x="3057352" y="6276871"/>
            <a:ext cx="2039202" cy="0"/>
          </a:xfrm>
          <a:prstGeom prst="line">
            <a:avLst/>
          </a:prstGeom>
          <a:ln cap="rnd" w="95250">
            <a:solidFill>
              <a:srgbClr val="5170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>
            <a:off x="13113971" y="6276871"/>
            <a:ext cx="2116676" cy="0"/>
          </a:xfrm>
          <a:prstGeom prst="line">
            <a:avLst/>
          </a:prstGeom>
          <a:ln cap="rnd" w="95250">
            <a:solidFill>
              <a:srgbClr val="5170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8987156" y="6276871"/>
            <a:ext cx="4507152" cy="0"/>
          </a:xfrm>
          <a:prstGeom prst="line">
            <a:avLst/>
          </a:prstGeom>
          <a:ln cap="flat" w="95250">
            <a:solidFill>
              <a:srgbClr val="5170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006386" y="3804814"/>
            <a:ext cx="1900556" cy="1900556"/>
          </a:xfrm>
          <a:custGeom>
            <a:avLst/>
            <a:gdLst/>
            <a:ahLst/>
            <a:cxnLst/>
            <a:rect r="r" b="b" t="t" l="l"/>
            <a:pathLst>
              <a:path h="1900556" w="1900556">
                <a:moveTo>
                  <a:pt x="0" y="0"/>
                </a:moveTo>
                <a:lnTo>
                  <a:pt x="1900556" y="0"/>
                </a:lnTo>
                <a:lnTo>
                  <a:pt x="1900556" y="1900557"/>
                </a:lnTo>
                <a:lnTo>
                  <a:pt x="0" y="19005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93722" y="3804814"/>
            <a:ext cx="1900556" cy="1900556"/>
          </a:xfrm>
          <a:custGeom>
            <a:avLst/>
            <a:gdLst/>
            <a:ahLst/>
            <a:cxnLst/>
            <a:rect r="r" b="b" t="t" l="l"/>
            <a:pathLst>
              <a:path h="1900556" w="1900556">
                <a:moveTo>
                  <a:pt x="0" y="0"/>
                </a:moveTo>
                <a:lnTo>
                  <a:pt x="1900556" y="0"/>
                </a:lnTo>
                <a:lnTo>
                  <a:pt x="1900556" y="1900557"/>
                </a:lnTo>
                <a:lnTo>
                  <a:pt x="0" y="19005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380278" y="3774648"/>
            <a:ext cx="1900556" cy="1900556"/>
          </a:xfrm>
          <a:custGeom>
            <a:avLst/>
            <a:gdLst/>
            <a:ahLst/>
            <a:cxnLst/>
            <a:rect r="r" b="b" t="t" l="l"/>
            <a:pathLst>
              <a:path h="1900556" w="1900556">
                <a:moveTo>
                  <a:pt x="0" y="0"/>
                </a:moveTo>
                <a:lnTo>
                  <a:pt x="1900557" y="0"/>
                </a:lnTo>
                <a:lnTo>
                  <a:pt x="1900557" y="1900556"/>
                </a:lnTo>
                <a:lnTo>
                  <a:pt x="0" y="1900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445537" y="4221974"/>
            <a:ext cx="1022254" cy="1066236"/>
          </a:xfrm>
          <a:custGeom>
            <a:avLst/>
            <a:gdLst/>
            <a:ahLst/>
            <a:cxnLst/>
            <a:rect r="r" b="b" t="t" l="l"/>
            <a:pathLst>
              <a:path h="1066236" w="1022254">
                <a:moveTo>
                  <a:pt x="0" y="0"/>
                </a:moveTo>
                <a:lnTo>
                  <a:pt x="1022254" y="0"/>
                </a:lnTo>
                <a:lnTo>
                  <a:pt x="1022254" y="1066237"/>
                </a:lnTo>
                <a:lnTo>
                  <a:pt x="0" y="10662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29015" y="4189877"/>
            <a:ext cx="1029969" cy="1070098"/>
          </a:xfrm>
          <a:custGeom>
            <a:avLst/>
            <a:gdLst/>
            <a:ahLst/>
            <a:cxnLst/>
            <a:rect r="r" b="b" t="t" l="l"/>
            <a:pathLst>
              <a:path h="1070098" w="1029969">
                <a:moveTo>
                  <a:pt x="0" y="0"/>
                </a:moveTo>
                <a:lnTo>
                  <a:pt x="1029970" y="0"/>
                </a:lnTo>
                <a:lnTo>
                  <a:pt x="1029970" y="1070098"/>
                </a:lnTo>
                <a:lnTo>
                  <a:pt x="0" y="10700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72625" y="4189877"/>
            <a:ext cx="1045066" cy="953623"/>
          </a:xfrm>
          <a:custGeom>
            <a:avLst/>
            <a:gdLst/>
            <a:ahLst/>
            <a:cxnLst/>
            <a:rect r="r" b="b" t="t" l="l"/>
            <a:pathLst>
              <a:path h="953623" w="1045066">
                <a:moveTo>
                  <a:pt x="0" y="0"/>
                </a:moveTo>
                <a:lnTo>
                  <a:pt x="1045066" y="0"/>
                </a:lnTo>
                <a:lnTo>
                  <a:pt x="1045066" y="953623"/>
                </a:lnTo>
                <a:lnTo>
                  <a:pt x="0" y="9536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864173" y="682647"/>
            <a:ext cx="6309710" cy="4992558"/>
          </a:xfrm>
          <a:custGeom>
            <a:avLst/>
            <a:gdLst/>
            <a:ahLst/>
            <a:cxnLst/>
            <a:rect r="r" b="b" t="t" l="l"/>
            <a:pathLst>
              <a:path h="4992558" w="6309710">
                <a:moveTo>
                  <a:pt x="0" y="0"/>
                </a:moveTo>
                <a:lnTo>
                  <a:pt x="6309710" y="0"/>
                </a:lnTo>
                <a:lnTo>
                  <a:pt x="6309710" y="4992557"/>
                </a:lnTo>
                <a:lnTo>
                  <a:pt x="0" y="49925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8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845848" y="1661622"/>
            <a:ext cx="12596303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49"/>
              </a:lnSpc>
              <a:spcBef>
                <a:spcPct val="0"/>
              </a:spcBef>
            </a:pPr>
            <a:r>
              <a:rPr lang="en-US" b="true" sz="7499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</a:t>
            </a:r>
            <a:r>
              <a:rPr lang="en-US" b="true" sz="7499" strike="noStrike" u="non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rket Potential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06344" y="6782136"/>
            <a:ext cx="3700639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Rising demand for premium self-gifting and daily indulgence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93680" y="6782136"/>
            <a:ext cx="3700639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Wellness, lifestyle, and design converging in the market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81016" y="6782136"/>
            <a:ext cx="3700639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Positioned for niche appeal with scalable production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7923" y="1263557"/>
            <a:ext cx="7041302" cy="7759885"/>
            <a:chOff x="0" y="0"/>
            <a:chExt cx="1069836" cy="11790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969" r="0" b="-1796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24538" y="5596586"/>
            <a:ext cx="583632" cy="583632"/>
          </a:xfrm>
          <a:custGeom>
            <a:avLst/>
            <a:gdLst/>
            <a:ahLst/>
            <a:cxnLst/>
            <a:rect r="r" b="b" t="t" l="l"/>
            <a:pathLst>
              <a:path h="583632" w="583632">
                <a:moveTo>
                  <a:pt x="0" y="0"/>
                </a:moveTo>
                <a:lnTo>
                  <a:pt x="583632" y="0"/>
                </a:lnTo>
                <a:lnTo>
                  <a:pt x="583632" y="583633"/>
                </a:lnTo>
                <a:lnTo>
                  <a:pt x="0" y="5836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662296">
            <a:off x="14911595" y="294999"/>
            <a:ext cx="3320488" cy="2789210"/>
          </a:xfrm>
          <a:custGeom>
            <a:avLst/>
            <a:gdLst/>
            <a:ahLst/>
            <a:cxnLst/>
            <a:rect r="r" b="b" t="t" l="l"/>
            <a:pathLst>
              <a:path h="2789210" w="3320488">
                <a:moveTo>
                  <a:pt x="0" y="0"/>
                </a:moveTo>
                <a:lnTo>
                  <a:pt x="3320488" y="0"/>
                </a:lnTo>
                <a:lnTo>
                  <a:pt x="3320488" y="2789210"/>
                </a:lnTo>
                <a:lnTo>
                  <a:pt x="0" y="27892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18655" y="9023443"/>
            <a:ext cx="1260785" cy="1645396"/>
          </a:xfrm>
          <a:custGeom>
            <a:avLst/>
            <a:gdLst/>
            <a:ahLst/>
            <a:cxnLst/>
            <a:rect r="r" b="b" t="t" l="l"/>
            <a:pathLst>
              <a:path h="1645396" w="1260785">
                <a:moveTo>
                  <a:pt x="0" y="0"/>
                </a:moveTo>
                <a:lnTo>
                  <a:pt x="1260785" y="0"/>
                </a:lnTo>
                <a:lnTo>
                  <a:pt x="1260785" y="1645396"/>
                </a:lnTo>
                <a:lnTo>
                  <a:pt x="0" y="1645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24538" y="6429423"/>
            <a:ext cx="6580374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ur growth channels span direct-to-consumer platforms, boutique retail and lifestyle stores, and custom collaborations for events, gifting, and limited editions.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22671" y="5433108"/>
            <a:ext cx="492353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Expanding Thr</a:t>
            </a:r>
            <a:r>
              <a:rPr lang="en-US" sz="2400" b="true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ough Curated Connections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24538" y="1632454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Channels &amp; Growth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53133" y="1028700"/>
            <a:ext cx="6929107" cy="8229600"/>
            <a:chOff x="0" y="0"/>
            <a:chExt cx="899880" cy="10687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9880" cy="1068775"/>
            </a:xfrm>
            <a:custGeom>
              <a:avLst/>
              <a:gdLst/>
              <a:ahLst/>
              <a:cxnLst/>
              <a:rect r="r" b="b" t="t" l="l"/>
              <a:pathLst>
                <a:path h="1068775" w="899880">
                  <a:moveTo>
                    <a:pt x="33519" y="0"/>
                  </a:moveTo>
                  <a:lnTo>
                    <a:pt x="866361" y="0"/>
                  </a:lnTo>
                  <a:cubicBezTo>
                    <a:pt x="875251" y="0"/>
                    <a:pt x="883777" y="3531"/>
                    <a:pt x="890063" y="9818"/>
                  </a:cubicBezTo>
                  <a:cubicBezTo>
                    <a:pt x="896349" y="16104"/>
                    <a:pt x="899880" y="24629"/>
                    <a:pt x="899880" y="33519"/>
                  </a:cubicBezTo>
                  <a:lnTo>
                    <a:pt x="899880" y="1035256"/>
                  </a:lnTo>
                  <a:cubicBezTo>
                    <a:pt x="899880" y="1044145"/>
                    <a:pt x="896349" y="1052671"/>
                    <a:pt x="890063" y="1058957"/>
                  </a:cubicBezTo>
                  <a:cubicBezTo>
                    <a:pt x="883777" y="1065243"/>
                    <a:pt x="875251" y="1068775"/>
                    <a:pt x="866361" y="1068775"/>
                  </a:cubicBezTo>
                  <a:lnTo>
                    <a:pt x="33519" y="1068775"/>
                  </a:lnTo>
                  <a:cubicBezTo>
                    <a:pt x="24629" y="1068775"/>
                    <a:pt x="16104" y="1065243"/>
                    <a:pt x="9818" y="1058957"/>
                  </a:cubicBezTo>
                  <a:cubicBezTo>
                    <a:pt x="3531" y="1052671"/>
                    <a:pt x="0" y="1044145"/>
                    <a:pt x="0" y="1035256"/>
                  </a:cubicBezTo>
                  <a:lnTo>
                    <a:pt x="0" y="33519"/>
                  </a:lnTo>
                  <a:cubicBezTo>
                    <a:pt x="0" y="24629"/>
                    <a:pt x="3531" y="16104"/>
                    <a:pt x="9818" y="9818"/>
                  </a:cubicBezTo>
                  <a:cubicBezTo>
                    <a:pt x="16104" y="3531"/>
                    <a:pt x="24629" y="0"/>
                    <a:pt x="33519" y="0"/>
                  </a:cubicBezTo>
                  <a:close/>
                </a:path>
              </a:pathLst>
            </a:custGeom>
            <a:blipFill>
              <a:blip r:embed="rId3"/>
              <a:stretch>
                <a:fillRect l="-55807" t="0" r="-55807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AutoShape 5" id="5"/>
          <p:cNvSpPr/>
          <p:nvPr/>
        </p:nvSpPr>
        <p:spPr>
          <a:xfrm>
            <a:off x="1867121" y="7069731"/>
            <a:ext cx="3092948" cy="0"/>
          </a:xfrm>
          <a:prstGeom prst="line">
            <a:avLst/>
          </a:prstGeom>
          <a:ln cap="rnd" w="19050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6417537" y="7069731"/>
            <a:ext cx="3092948" cy="0"/>
          </a:xfrm>
          <a:prstGeom prst="line">
            <a:avLst/>
          </a:prstGeom>
          <a:ln cap="rnd" w="19050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967953" y="7069731"/>
            <a:ext cx="3092948" cy="0"/>
          </a:xfrm>
          <a:prstGeom prst="line">
            <a:avLst/>
          </a:prstGeom>
          <a:ln cap="rnd" w="19050">
            <a:solidFill>
              <a:srgbClr val="FFFF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6344" y="4820666"/>
            <a:ext cx="3862083" cy="3896175"/>
          </a:xfrm>
          <a:custGeom>
            <a:avLst/>
            <a:gdLst/>
            <a:ahLst/>
            <a:cxnLst/>
            <a:rect r="r" b="b" t="t" l="l"/>
            <a:pathLst>
              <a:path h="3896175" w="3862083">
                <a:moveTo>
                  <a:pt x="0" y="0"/>
                </a:moveTo>
                <a:lnTo>
                  <a:pt x="3862083" y="0"/>
                </a:lnTo>
                <a:lnTo>
                  <a:pt x="3862083" y="3896175"/>
                </a:lnTo>
                <a:lnTo>
                  <a:pt x="0" y="3896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66760" y="4820666"/>
            <a:ext cx="3862083" cy="3896175"/>
          </a:xfrm>
          <a:custGeom>
            <a:avLst/>
            <a:gdLst/>
            <a:ahLst/>
            <a:cxnLst/>
            <a:rect r="r" b="b" t="t" l="l"/>
            <a:pathLst>
              <a:path h="3896175" w="3862083">
                <a:moveTo>
                  <a:pt x="0" y="0"/>
                </a:moveTo>
                <a:lnTo>
                  <a:pt x="3862083" y="0"/>
                </a:lnTo>
                <a:lnTo>
                  <a:pt x="3862083" y="3896175"/>
                </a:lnTo>
                <a:lnTo>
                  <a:pt x="0" y="3896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17176" y="4848229"/>
            <a:ext cx="3862083" cy="3896175"/>
          </a:xfrm>
          <a:custGeom>
            <a:avLst/>
            <a:gdLst/>
            <a:ahLst/>
            <a:cxnLst/>
            <a:rect r="r" b="b" t="t" l="l"/>
            <a:pathLst>
              <a:path h="3896175" w="3862083">
                <a:moveTo>
                  <a:pt x="0" y="0"/>
                </a:moveTo>
                <a:lnTo>
                  <a:pt x="3862083" y="0"/>
                </a:lnTo>
                <a:lnTo>
                  <a:pt x="3862083" y="3896174"/>
                </a:lnTo>
                <a:lnTo>
                  <a:pt x="0" y="3896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867121" y="6242024"/>
            <a:ext cx="3092948" cy="613431"/>
            <a:chOff x="0" y="0"/>
            <a:chExt cx="814604" cy="1615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4604" cy="161562"/>
            </a:xfrm>
            <a:custGeom>
              <a:avLst/>
              <a:gdLst/>
              <a:ahLst/>
              <a:cxnLst/>
              <a:rect r="r" b="b" t="t" l="l"/>
              <a:pathLst>
                <a:path h="161562" w="814604">
                  <a:moveTo>
                    <a:pt x="80781" y="0"/>
                  </a:moveTo>
                  <a:lnTo>
                    <a:pt x="733823" y="0"/>
                  </a:lnTo>
                  <a:cubicBezTo>
                    <a:pt x="778437" y="0"/>
                    <a:pt x="814604" y="36167"/>
                    <a:pt x="814604" y="80781"/>
                  </a:cubicBezTo>
                  <a:lnTo>
                    <a:pt x="814604" y="80781"/>
                  </a:lnTo>
                  <a:cubicBezTo>
                    <a:pt x="814604" y="125395"/>
                    <a:pt x="778437" y="161562"/>
                    <a:pt x="733823" y="161562"/>
                  </a:cubicBezTo>
                  <a:lnTo>
                    <a:pt x="80781" y="161562"/>
                  </a:lnTo>
                  <a:cubicBezTo>
                    <a:pt x="36167" y="161562"/>
                    <a:pt x="0" y="125395"/>
                    <a:pt x="0" y="80781"/>
                  </a:cubicBezTo>
                  <a:lnTo>
                    <a:pt x="0" y="80781"/>
                  </a:lnTo>
                  <a:cubicBezTo>
                    <a:pt x="0" y="36167"/>
                    <a:pt x="36167" y="0"/>
                    <a:pt x="80781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14604" cy="228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10372" y="6242024"/>
            <a:ext cx="3092948" cy="613431"/>
            <a:chOff x="0" y="0"/>
            <a:chExt cx="814604" cy="1615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4604" cy="161562"/>
            </a:xfrm>
            <a:custGeom>
              <a:avLst/>
              <a:gdLst/>
              <a:ahLst/>
              <a:cxnLst/>
              <a:rect r="r" b="b" t="t" l="l"/>
              <a:pathLst>
                <a:path h="161562" w="814604">
                  <a:moveTo>
                    <a:pt x="80781" y="0"/>
                  </a:moveTo>
                  <a:lnTo>
                    <a:pt x="733823" y="0"/>
                  </a:lnTo>
                  <a:cubicBezTo>
                    <a:pt x="778437" y="0"/>
                    <a:pt x="814604" y="36167"/>
                    <a:pt x="814604" y="80781"/>
                  </a:cubicBezTo>
                  <a:lnTo>
                    <a:pt x="814604" y="80781"/>
                  </a:lnTo>
                  <a:cubicBezTo>
                    <a:pt x="814604" y="125395"/>
                    <a:pt x="778437" y="161562"/>
                    <a:pt x="733823" y="161562"/>
                  </a:cubicBezTo>
                  <a:lnTo>
                    <a:pt x="80781" y="161562"/>
                  </a:lnTo>
                  <a:cubicBezTo>
                    <a:pt x="36167" y="161562"/>
                    <a:pt x="0" y="125395"/>
                    <a:pt x="0" y="80781"/>
                  </a:cubicBezTo>
                  <a:lnTo>
                    <a:pt x="0" y="80781"/>
                  </a:lnTo>
                  <a:cubicBezTo>
                    <a:pt x="0" y="36167"/>
                    <a:pt x="36167" y="0"/>
                    <a:pt x="80781" y="0"/>
                  </a:cubicBezTo>
                  <a:close/>
                </a:path>
              </a:pathLst>
            </a:custGeom>
            <a:solidFill>
              <a:srgbClr val="FF5A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814604" cy="228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67953" y="6307759"/>
            <a:ext cx="3092948" cy="613431"/>
            <a:chOff x="0" y="0"/>
            <a:chExt cx="814604" cy="1615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4604" cy="161562"/>
            </a:xfrm>
            <a:custGeom>
              <a:avLst/>
              <a:gdLst/>
              <a:ahLst/>
              <a:cxnLst/>
              <a:rect r="r" b="b" t="t" l="l"/>
              <a:pathLst>
                <a:path h="161562" w="814604">
                  <a:moveTo>
                    <a:pt x="80781" y="0"/>
                  </a:moveTo>
                  <a:lnTo>
                    <a:pt x="733823" y="0"/>
                  </a:lnTo>
                  <a:cubicBezTo>
                    <a:pt x="778437" y="0"/>
                    <a:pt x="814604" y="36167"/>
                    <a:pt x="814604" y="80781"/>
                  </a:cubicBezTo>
                  <a:lnTo>
                    <a:pt x="814604" y="80781"/>
                  </a:lnTo>
                  <a:cubicBezTo>
                    <a:pt x="814604" y="125395"/>
                    <a:pt x="778437" y="161562"/>
                    <a:pt x="733823" y="161562"/>
                  </a:cubicBezTo>
                  <a:lnTo>
                    <a:pt x="80781" y="161562"/>
                  </a:lnTo>
                  <a:cubicBezTo>
                    <a:pt x="36167" y="161562"/>
                    <a:pt x="0" y="125395"/>
                    <a:pt x="0" y="80781"/>
                  </a:cubicBezTo>
                  <a:lnTo>
                    <a:pt x="0" y="80781"/>
                  </a:lnTo>
                  <a:cubicBezTo>
                    <a:pt x="0" y="36167"/>
                    <a:pt x="36167" y="0"/>
                    <a:pt x="80781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814604" cy="228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532451" y="5225047"/>
            <a:ext cx="2149621" cy="1696144"/>
          </a:xfrm>
          <a:custGeom>
            <a:avLst/>
            <a:gdLst/>
            <a:ahLst/>
            <a:cxnLst/>
            <a:rect r="r" b="b" t="t" l="l"/>
            <a:pathLst>
              <a:path h="1696144" w="2149621">
                <a:moveTo>
                  <a:pt x="0" y="0"/>
                </a:moveTo>
                <a:lnTo>
                  <a:pt x="2149622" y="0"/>
                </a:lnTo>
                <a:lnTo>
                  <a:pt x="2149622" y="1696143"/>
                </a:lnTo>
                <a:lnTo>
                  <a:pt x="0" y="1696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50205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675586" y="5290781"/>
            <a:ext cx="2303860" cy="1564675"/>
          </a:xfrm>
          <a:custGeom>
            <a:avLst/>
            <a:gdLst/>
            <a:ahLst/>
            <a:cxnLst/>
            <a:rect r="r" b="b" t="t" l="l"/>
            <a:pathLst>
              <a:path h="1564675" w="2303860">
                <a:moveTo>
                  <a:pt x="0" y="0"/>
                </a:moveTo>
                <a:lnTo>
                  <a:pt x="2303859" y="0"/>
                </a:lnTo>
                <a:lnTo>
                  <a:pt x="2303859" y="1564675"/>
                </a:lnTo>
                <a:lnTo>
                  <a:pt x="0" y="1564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53177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36780" y="5024798"/>
            <a:ext cx="2923289" cy="1825858"/>
          </a:xfrm>
          <a:custGeom>
            <a:avLst/>
            <a:gdLst/>
            <a:ahLst/>
            <a:cxnLst/>
            <a:rect r="r" b="b" t="t" l="l"/>
            <a:pathLst>
              <a:path h="1825858" w="2923289">
                <a:moveTo>
                  <a:pt x="0" y="0"/>
                </a:moveTo>
                <a:lnTo>
                  <a:pt x="2923289" y="0"/>
                </a:lnTo>
                <a:lnTo>
                  <a:pt x="2923289" y="1825858"/>
                </a:lnTo>
                <a:lnTo>
                  <a:pt x="0" y="1825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4589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4663397">
            <a:off x="3161704" y="-736767"/>
            <a:ext cx="3596730" cy="3619351"/>
          </a:xfrm>
          <a:custGeom>
            <a:avLst/>
            <a:gdLst/>
            <a:ahLst/>
            <a:cxnLst/>
            <a:rect r="r" b="b" t="t" l="l"/>
            <a:pathLst>
              <a:path h="3619351" w="3596730">
                <a:moveTo>
                  <a:pt x="0" y="0"/>
                </a:moveTo>
                <a:lnTo>
                  <a:pt x="3596730" y="0"/>
                </a:lnTo>
                <a:lnTo>
                  <a:pt x="3596730" y="3619351"/>
                </a:lnTo>
                <a:lnTo>
                  <a:pt x="0" y="36193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16344" y="2114491"/>
            <a:ext cx="4901193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Vision</a:t>
            </a:r>
            <a:r>
              <a:rPr lang="en-US" b="true" sz="6800" strike="noStrike" u="non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Forwa</a:t>
            </a:r>
            <a:r>
              <a:rPr lang="en-US" b="true" sz="6800" strike="noStrike" u="non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</a:t>
            </a:r>
            <a:r>
              <a:rPr lang="en-US" b="true" sz="6800" strike="noStrike" u="non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67121" y="7232566"/>
            <a:ext cx="3092948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</a:t>
            </a: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ilding an ecosystem of sensory design and daily pleasure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17537" y="7232566"/>
            <a:ext cx="3278618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1999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panding into intersections of taste, touch, and aesthetics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67953" y="7232566"/>
            <a:ext cx="3278618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99"/>
              </a:lnSpc>
              <a:spcBef>
                <a:spcPct val="0"/>
              </a:spcBef>
            </a:pPr>
            <a:r>
              <a:rPr lang="en-US" sz="19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Becoming the brand for unforgettable everyday experiences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50870" y="1465655"/>
            <a:ext cx="3553939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 spc="-47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Studio Shodwe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3203" y="2648634"/>
            <a:ext cx="6878415" cy="3491198"/>
            <a:chOff x="0" y="0"/>
            <a:chExt cx="931572" cy="472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1572" cy="472827"/>
            </a:xfrm>
            <a:custGeom>
              <a:avLst/>
              <a:gdLst/>
              <a:ahLst/>
              <a:cxnLst/>
              <a:rect r="r" b="b" t="t" l="l"/>
              <a:pathLst>
                <a:path h="472827" w="931572">
                  <a:moveTo>
                    <a:pt x="28138" y="0"/>
                  </a:moveTo>
                  <a:lnTo>
                    <a:pt x="903434" y="0"/>
                  </a:lnTo>
                  <a:cubicBezTo>
                    <a:pt x="918974" y="0"/>
                    <a:pt x="931572" y="12598"/>
                    <a:pt x="931572" y="28138"/>
                  </a:cubicBezTo>
                  <a:lnTo>
                    <a:pt x="931572" y="444689"/>
                  </a:lnTo>
                  <a:cubicBezTo>
                    <a:pt x="931572" y="452152"/>
                    <a:pt x="928608" y="459309"/>
                    <a:pt x="923331" y="464586"/>
                  </a:cubicBezTo>
                  <a:cubicBezTo>
                    <a:pt x="918054" y="469863"/>
                    <a:pt x="910897" y="472827"/>
                    <a:pt x="903434" y="472827"/>
                  </a:cubicBezTo>
                  <a:lnTo>
                    <a:pt x="28138" y="472827"/>
                  </a:lnTo>
                  <a:cubicBezTo>
                    <a:pt x="20676" y="472827"/>
                    <a:pt x="13519" y="469863"/>
                    <a:pt x="8242" y="464586"/>
                  </a:cubicBezTo>
                  <a:cubicBezTo>
                    <a:pt x="2965" y="459309"/>
                    <a:pt x="0" y="452152"/>
                    <a:pt x="0" y="444689"/>
                  </a:cubicBezTo>
                  <a:lnTo>
                    <a:pt x="0" y="28138"/>
                  </a:lnTo>
                  <a:cubicBezTo>
                    <a:pt x="0" y="20676"/>
                    <a:pt x="2965" y="13519"/>
                    <a:pt x="8242" y="8242"/>
                  </a:cubicBezTo>
                  <a:cubicBezTo>
                    <a:pt x="13519" y="2965"/>
                    <a:pt x="20676" y="0"/>
                    <a:pt x="28138" y="0"/>
                  </a:cubicBezTo>
                  <a:close/>
                </a:path>
              </a:pathLst>
            </a:custGeom>
            <a:blipFill>
              <a:blip r:embed="rId3"/>
              <a:stretch>
                <a:fillRect l="-3568" t="0" r="-3568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197102" y="6630721"/>
            <a:ext cx="440866" cy="440866"/>
          </a:xfrm>
          <a:custGeom>
            <a:avLst/>
            <a:gdLst/>
            <a:ahLst/>
            <a:cxnLst/>
            <a:rect r="r" b="b" t="t" l="l"/>
            <a:pathLst>
              <a:path h="440866" w="440866">
                <a:moveTo>
                  <a:pt x="0" y="0"/>
                </a:moveTo>
                <a:lnTo>
                  <a:pt x="440866" y="0"/>
                </a:lnTo>
                <a:lnTo>
                  <a:pt x="440866" y="440865"/>
                </a:lnTo>
                <a:lnTo>
                  <a:pt x="0" y="440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97102" y="7375058"/>
            <a:ext cx="411968" cy="411968"/>
          </a:xfrm>
          <a:custGeom>
            <a:avLst/>
            <a:gdLst/>
            <a:ahLst/>
            <a:cxnLst/>
            <a:rect r="r" b="b" t="t" l="l"/>
            <a:pathLst>
              <a:path h="411968" w="411968">
                <a:moveTo>
                  <a:pt x="0" y="0"/>
                </a:moveTo>
                <a:lnTo>
                  <a:pt x="411968" y="0"/>
                </a:lnTo>
                <a:lnTo>
                  <a:pt x="411968" y="411968"/>
                </a:lnTo>
                <a:lnTo>
                  <a:pt x="0" y="4119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197102" y="8101762"/>
            <a:ext cx="340363" cy="363539"/>
          </a:xfrm>
          <a:custGeom>
            <a:avLst/>
            <a:gdLst/>
            <a:ahLst/>
            <a:cxnLst/>
            <a:rect r="r" b="b" t="t" l="l"/>
            <a:pathLst>
              <a:path h="363539" w="340363">
                <a:moveTo>
                  <a:pt x="0" y="0"/>
                </a:moveTo>
                <a:lnTo>
                  <a:pt x="340363" y="0"/>
                </a:lnTo>
                <a:lnTo>
                  <a:pt x="340363" y="363539"/>
                </a:lnTo>
                <a:lnTo>
                  <a:pt x="0" y="363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13910787" y="1116112"/>
            <a:ext cx="3491198" cy="6556241"/>
          </a:xfrm>
          <a:custGeom>
            <a:avLst/>
            <a:gdLst/>
            <a:ahLst/>
            <a:cxnLst/>
            <a:rect r="r" b="b" t="t" l="l"/>
            <a:pathLst>
              <a:path h="6556241" w="3491198">
                <a:moveTo>
                  <a:pt x="0" y="0"/>
                </a:moveTo>
                <a:lnTo>
                  <a:pt x="3491198" y="0"/>
                </a:lnTo>
                <a:lnTo>
                  <a:pt x="3491198" y="6556241"/>
                </a:lnTo>
                <a:lnTo>
                  <a:pt x="0" y="6556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1712226" y="1116112"/>
            <a:ext cx="3491198" cy="6556241"/>
          </a:xfrm>
          <a:custGeom>
            <a:avLst/>
            <a:gdLst/>
            <a:ahLst/>
            <a:cxnLst/>
            <a:rect r="r" b="b" t="t" l="l"/>
            <a:pathLst>
              <a:path h="6556241" w="3491198">
                <a:moveTo>
                  <a:pt x="0" y="0"/>
                </a:moveTo>
                <a:lnTo>
                  <a:pt x="3491198" y="0"/>
                </a:lnTo>
                <a:lnTo>
                  <a:pt x="3491198" y="6556241"/>
                </a:lnTo>
                <a:lnTo>
                  <a:pt x="0" y="6556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52473" y="2860896"/>
            <a:ext cx="4402243" cy="3278936"/>
          </a:xfrm>
          <a:custGeom>
            <a:avLst/>
            <a:gdLst/>
            <a:ahLst/>
            <a:cxnLst/>
            <a:rect r="r" b="b" t="t" l="l"/>
            <a:pathLst>
              <a:path h="3278936" w="4402243">
                <a:moveTo>
                  <a:pt x="0" y="0"/>
                </a:moveTo>
                <a:lnTo>
                  <a:pt x="4402243" y="0"/>
                </a:lnTo>
                <a:lnTo>
                  <a:pt x="4402243" y="3278936"/>
                </a:lnTo>
                <a:lnTo>
                  <a:pt x="0" y="3278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4169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850094">
            <a:off x="6687570" y="7153610"/>
            <a:ext cx="2995187" cy="3462644"/>
          </a:xfrm>
          <a:custGeom>
            <a:avLst/>
            <a:gdLst/>
            <a:ahLst/>
            <a:cxnLst/>
            <a:rect r="r" b="b" t="t" l="l"/>
            <a:pathLst>
              <a:path h="3462644" w="2995187">
                <a:moveTo>
                  <a:pt x="0" y="0"/>
                </a:moveTo>
                <a:lnTo>
                  <a:pt x="2995188" y="0"/>
                </a:lnTo>
                <a:lnTo>
                  <a:pt x="2995188" y="3462645"/>
                </a:lnTo>
                <a:lnTo>
                  <a:pt x="0" y="34626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870575">
            <a:off x="9255135" y="-446524"/>
            <a:ext cx="1260785" cy="1645396"/>
          </a:xfrm>
          <a:custGeom>
            <a:avLst/>
            <a:gdLst/>
            <a:ahLst/>
            <a:cxnLst/>
            <a:rect r="r" b="b" t="t" l="l"/>
            <a:pathLst>
              <a:path h="1645396" w="1260785">
                <a:moveTo>
                  <a:pt x="0" y="0"/>
                </a:moveTo>
                <a:lnTo>
                  <a:pt x="1260785" y="0"/>
                </a:lnTo>
                <a:lnTo>
                  <a:pt x="1260785" y="1645396"/>
                </a:lnTo>
                <a:lnTo>
                  <a:pt x="0" y="16453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824752" y="6371367"/>
            <a:ext cx="5266147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60"/>
              </a:lnSpc>
            </a:pPr>
            <a:r>
              <a:rPr lang="en-US" b="true" sz="6800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  <a:p>
            <a:pPr algn="just">
              <a:lnSpc>
                <a:spcPts val="8160"/>
              </a:lnSpc>
            </a:pPr>
            <a:r>
              <a:rPr lang="en-US" b="true" sz="6800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Very Much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97102" y="1533773"/>
            <a:ext cx="4168443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 spc="-47">
                <a:solidFill>
                  <a:srgbClr val="5170FF"/>
                </a:solidFill>
                <a:latin typeface="Poppins"/>
                <a:ea typeface="Poppins"/>
                <a:cs typeface="Poppins"/>
                <a:sym typeface="Poppins"/>
              </a:rPr>
              <a:t>Studio Shodwe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46934" y="6564046"/>
            <a:ext cx="3055358" cy="42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b="true" sz="2396">
                <a:solidFill>
                  <a:srgbClr val="5170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@reallygreatsite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39877" y="7293934"/>
            <a:ext cx="3538566" cy="42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5"/>
              </a:lnSpc>
              <a:spcBef>
                <a:spcPct val="0"/>
              </a:spcBef>
            </a:pPr>
            <a:r>
              <a:rPr lang="en-US" b="true" sz="2396" strike="noStrike" u="none">
                <a:solidFill>
                  <a:srgbClr val="5170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22522" y="8023887"/>
            <a:ext cx="4631593" cy="43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94"/>
              </a:lnSpc>
              <a:spcBef>
                <a:spcPct val="0"/>
              </a:spcBef>
            </a:pPr>
            <a:r>
              <a:rPr lang="en-US" b="true" sz="2424" strike="noStrike" u="none">
                <a:solidFill>
                  <a:srgbClr val="5170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123 Anywhere St., Any City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8120" y="1746285"/>
            <a:ext cx="4377359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Resource Page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8120" y="3879413"/>
            <a:ext cx="3782903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5170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 the following design resources in your training presentations. Happy designing!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71103" y="1803435"/>
            <a:ext cx="1967963" cy="1436613"/>
          </a:xfrm>
          <a:custGeom>
            <a:avLst/>
            <a:gdLst/>
            <a:ahLst/>
            <a:cxnLst/>
            <a:rect r="r" b="b" t="t" l="l"/>
            <a:pathLst>
              <a:path h="1436613" w="1967963">
                <a:moveTo>
                  <a:pt x="0" y="0"/>
                </a:moveTo>
                <a:lnTo>
                  <a:pt x="1967964" y="0"/>
                </a:lnTo>
                <a:lnTo>
                  <a:pt x="1967964" y="1436613"/>
                </a:lnTo>
                <a:lnTo>
                  <a:pt x="0" y="143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62638" y="1429944"/>
            <a:ext cx="1769377" cy="1810104"/>
          </a:xfrm>
          <a:custGeom>
            <a:avLst/>
            <a:gdLst/>
            <a:ahLst/>
            <a:cxnLst/>
            <a:rect r="r" b="b" t="t" l="l"/>
            <a:pathLst>
              <a:path h="1810104" w="1769377">
                <a:moveTo>
                  <a:pt x="0" y="0"/>
                </a:moveTo>
                <a:lnTo>
                  <a:pt x="1769377" y="0"/>
                </a:lnTo>
                <a:lnTo>
                  <a:pt x="1769377" y="1810104"/>
                </a:lnTo>
                <a:lnTo>
                  <a:pt x="0" y="18101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55587" y="1429944"/>
            <a:ext cx="1560035" cy="1859953"/>
          </a:xfrm>
          <a:custGeom>
            <a:avLst/>
            <a:gdLst/>
            <a:ahLst/>
            <a:cxnLst/>
            <a:rect r="r" b="b" t="t" l="l"/>
            <a:pathLst>
              <a:path h="1859953" w="1560035">
                <a:moveTo>
                  <a:pt x="0" y="0"/>
                </a:moveTo>
                <a:lnTo>
                  <a:pt x="1560036" y="0"/>
                </a:lnTo>
                <a:lnTo>
                  <a:pt x="1560036" y="1859953"/>
                </a:lnTo>
                <a:lnTo>
                  <a:pt x="0" y="18599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994953" y="1429944"/>
            <a:ext cx="1834339" cy="1918263"/>
          </a:xfrm>
          <a:custGeom>
            <a:avLst/>
            <a:gdLst/>
            <a:ahLst/>
            <a:cxnLst/>
            <a:rect r="r" b="b" t="t" l="l"/>
            <a:pathLst>
              <a:path h="1918263" w="1834339">
                <a:moveTo>
                  <a:pt x="0" y="0"/>
                </a:moveTo>
                <a:lnTo>
                  <a:pt x="1834339" y="0"/>
                </a:lnTo>
                <a:lnTo>
                  <a:pt x="1834339" y="1918262"/>
                </a:lnTo>
                <a:lnTo>
                  <a:pt x="0" y="19182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85668" y="4431076"/>
            <a:ext cx="1738834" cy="1864701"/>
          </a:xfrm>
          <a:custGeom>
            <a:avLst/>
            <a:gdLst/>
            <a:ahLst/>
            <a:cxnLst/>
            <a:rect r="r" b="b" t="t" l="l"/>
            <a:pathLst>
              <a:path h="1864701" w="1738834">
                <a:moveTo>
                  <a:pt x="0" y="0"/>
                </a:moveTo>
                <a:lnTo>
                  <a:pt x="1738834" y="0"/>
                </a:lnTo>
                <a:lnTo>
                  <a:pt x="1738834" y="1864701"/>
                </a:lnTo>
                <a:lnTo>
                  <a:pt x="0" y="1864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62638" y="4372637"/>
            <a:ext cx="1973229" cy="1864701"/>
          </a:xfrm>
          <a:custGeom>
            <a:avLst/>
            <a:gdLst/>
            <a:ahLst/>
            <a:cxnLst/>
            <a:rect r="r" b="b" t="t" l="l"/>
            <a:pathLst>
              <a:path h="1864701" w="1973229">
                <a:moveTo>
                  <a:pt x="0" y="0"/>
                </a:moveTo>
                <a:lnTo>
                  <a:pt x="1973229" y="0"/>
                </a:lnTo>
                <a:lnTo>
                  <a:pt x="1973229" y="1864701"/>
                </a:lnTo>
                <a:lnTo>
                  <a:pt x="0" y="18647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19194" y="4742256"/>
            <a:ext cx="1657142" cy="1296713"/>
          </a:xfrm>
          <a:custGeom>
            <a:avLst/>
            <a:gdLst/>
            <a:ahLst/>
            <a:cxnLst/>
            <a:rect r="r" b="b" t="t" l="l"/>
            <a:pathLst>
              <a:path h="1296713" w="1657142">
                <a:moveTo>
                  <a:pt x="0" y="0"/>
                </a:moveTo>
                <a:lnTo>
                  <a:pt x="1657142" y="0"/>
                </a:lnTo>
                <a:lnTo>
                  <a:pt x="1657142" y="1296714"/>
                </a:lnTo>
                <a:lnTo>
                  <a:pt x="0" y="12967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95486" y="4597301"/>
            <a:ext cx="1733806" cy="1532251"/>
          </a:xfrm>
          <a:custGeom>
            <a:avLst/>
            <a:gdLst/>
            <a:ahLst/>
            <a:cxnLst/>
            <a:rect r="r" b="b" t="t" l="l"/>
            <a:pathLst>
              <a:path h="1532251" w="1733806">
                <a:moveTo>
                  <a:pt x="0" y="0"/>
                </a:moveTo>
                <a:lnTo>
                  <a:pt x="1733806" y="0"/>
                </a:lnTo>
                <a:lnTo>
                  <a:pt x="1733806" y="1532251"/>
                </a:lnTo>
                <a:lnTo>
                  <a:pt x="0" y="153225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71103" y="7045680"/>
            <a:ext cx="2067191" cy="1811376"/>
          </a:xfrm>
          <a:custGeom>
            <a:avLst/>
            <a:gdLst/>
            <a:ahLst/>
            <a:cxnLst/>
            <a:rect r="r" b="b" t="t" l="l"/>
            <a:pathLst>
              <a:path h="1811376" w="2067191">
                <a:moveTo>
                  <a:pt x="0" y="0"/>
                </a:moveTo>
                <a:lnTo>
                  <a:pt x="2067191" y="0"/>
                </a:lnTo>
                <a:lnTo>
                  <a:pt x="2067191" y="1811376"/>
                </a:lnTo>
                <a:lnTo>
                  <a:pt x="0" y="181137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098222" y="7045680"/>
            <a:ext cx="1702061" cy="1777609"/>
          </a:xfrm>
          <a:custGeom>
            <a:avLst/>
            <a:gdLst/>
            <a:ahLst/>
            <a:cxnLst/>
            <a:rect r="r" b="b" t="t" l="l"/>
            <a:pathLst>
              <a:path h="1777609" w="1702061">
                <a:moveTo>
                  <a:pt x="0" y="0"/>
                </a:moveTo>
                <a:lnTo>
                  <a:pt x="1702061" y="0"/>
                </a:lnTo>
                <a:lnTo>
                  <a:pt x="1702061" y="1777609"/>
                </a:lnTo>
                <a:lnTo>
                  <a:pt x="0" y="177760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03006" y="7045680"/>
            <a:ext cx="1889518" cy="1594281"/>
          </a:xfrm>
          <a:custGeom>
            <a:avLst/>
            <a:gdLst/>
            <a:ahLst/>
            <a:cxnLst/>
            <a:rect r="r" b="b" t="t" l="l"/>
            <a:pathLst>
              <a:path h="1594281" w="1889518">
                <a:moveTo>
                  <a:pt x="0" y="0"/>
                </a:moveTo>
                <a:lnTo>
                  <a:pt x="1889518" y="0"/>
                </a:lnTo>
                <a:lnTo>
                  <a:pt x="1889518" y="1594281"/>
                </a:lnTo>
                <a:lnTo>
                  <a:pt x="0" y="159428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249774" y="6960699"/>
            <a:ext cx="1711316" cy="1764243"/>
          </a:xfrm>
          <a:custGeom>
            <a:avLst/>
            <a:gdLst/>
            <a:ahLst/>
            <a:cxnLst/>
            <a:rect r="r" b="b" t="t" l="l"/>
            <a:pathLst>
              <a:path h="1764243" w="1711316">
                <a:moveTo>
                  <a:pt x="0" y="0"/>
                </a:moveTo>
                <a:lnTo>
                  <a:pt x="1711316" y="0"/>
                </a:lnTo>
                <a:lnTo>
                  <a:pt x="1711316" y="1764243"/>
                </a:lnTo>
                <a:lnTo>
                  <a:pt x="0" y="176424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8120" y="1746285"/>
            <a:ext cx="4377359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170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Resource Page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8120" y="3879413"/>
            <a:ext cx="3782903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5170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 the following design resources in your training presentations. Happy designing!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38260" y="2701704"/>
            <a:ext cx="1789344" cy="597194"/>
          </a:xfrm>
          <a:custGeom>
            <a:avLst/>
            <a:gdLst/>
            <a:ahLst/>
            <a:cxnLst/>
            <a:rect r="r" b="b" t="t" l="l"/>
            <a:pathLst>
              <a:path h="597194" w="1789344">
                <a:moveTo>
                  <a:pt x="0" y="0"/>
                </a:moveTo>
                <a:lnTo>
                  <a:pt x="1789345" y="0"/>
                </a:lnTo>
                <a:lnTo>
                  <a:pt x="1789345" y="597194"/>
                </a:lnTo>
                <a:lnTo>
                  <a:pt x="0" y="597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76309" y="2535781"/>
            <a:ext cx="1761212" cy="929039"/>
          </a:xfrm>
          <a:custGeom>
            <a:avLst/>
            <a:gdLst/>
            <a:ahLst/>
            <a:cxnLst/>
            <a:rect r="r" b="b" t="t" l="l"/>
            <a:pathLst>
              <a:path h="929039" w="1761212">
                <a:moveTo>
                  <a:pt x="0" y="0"/>
                </a:moveTo>
                <a:lnTo>
                  <a:pt x="1761212" y="0"/>
                </a:lnTo>
                <a:lnTo>
                  <a:pt x="1761212" y="929040"/>
                </a:lnTo>
                <a:lnTo>
                  <a:pt x="0" y="92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29477" y="2646276"/>
            <a:ext cx="2070715" cy="597919"/>
          </a:xfrm>
          <a:custGeom>
            <a:avLst/>
            <a:gdLst/>
            <a:ahLst/>
            <a:cxnLst/>
            <a:rect r="r" b="b" t="t" l="l"/>
            <a:pathLst>
              <a:path h="597919" w="2070715">
                <a:moveTo>
                  <a:pt x="0" y="0"/>
                </a:moveTo>
                <a:lnTo>
                  <a:pt x="2070715" y="0"/>
                </a:lnTo>
                <a:lnTo>
                  <a:pt x="2070715" y="597919"/>
                </a:lnTo>
                <a:lnTo>
                  <a:pt x="0" y="5979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13153" y="2445931"/>
            <a:ext cx="993708" cy="1108740"/>
          </a:xfrm>
          <a:custGeom>
            <a:avLst/>
            <a:gdLst/>
            <a:ahLst/>
            <a:cxnLst/>
            <a:rect r="r" b="b" t="t" l="l"/>
            <a:pathLst>
              <a:path h="1108740" w="993708">
                <a:moveTo>
                  <a:pt x="0" y="0"/>
                </a:moveTo>
                <a:lnTo>
                  <a:pt x="993707" y="0"/>
                </a:lnTo>
                <a:lnTo>
                  <a:pt x="993707" y="1108740"/>
                </a:lnTo>
                <a:lnTo>
                  <a:pt x="0" y="1108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49209" y="4178285"/>
            <a:ext cx="1367446" cy="1358900"/>
          </a:xfrm>
          <a:custGeom>
            <a:avLst/>
            <a:gdLst/>
            <a:ahLst/>
            <a:cxnLst/>
            <a:rect r="r" b="b" t="t" l="l"/>
            <a:pathLst>
              <a:path h="1358900" w="1367446">
                <a:moveTo>
                  <a:pt x="0" y="0"/>
                </a:moveTo>
                <a:lnTo>
                  <a:pt x="1367447" y="0"/>
                </a:lnTo>
                <a:lnTo>
                  <a:pt x="1367447" y="1358900"/>
                </a:lnTo>
                <a:lnTo>
                  <a:pt x="0" y="1358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76309" y="4339773"/>
            <a:ext cx="1797242" cy="1197412"/>
          </a:xfrm>
          <a:custGeom>
            <a:avLst/>
            <a:gdLst/>
            <a:ahLst/>
            <a:cxnLst/>
            <a:rect r="r" b="b" t="t" l="l"/>
            <a:pathLst>
              <a:path h="1197412" w="1797242">
                <a:moveTo>
                  <a:pt x="0" y="0"/>
                </a:moveTo>
                <a:lnTo>
                  <a:pt x="1797242" y="0"/>
                </a:lnTo>
                <a:lnTo>
                  <a:pt x="1797242" y="1197412"/>
                </a:lnTo>
                <a:lnTo>
                  <a:pt x="0" y="11974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30801" y="4339773"/>
            <a:ext cx="1554858" cy="1035924"/>
          </a:xfrm>
          <a:custGeom>
            <a:avLst/>
            <a:gdLst/>
            <a:ahLst/>
            <a:cxnLst/>
            <a:rect r="r" b="b" t="t" l="l"/>
            <a:pathLst>
              <a:path h="1035924" w="1554858">
                <a:moveTo>
                  <a:pt x="0" y="0"/>
                </a:moveTo>
                <a:lnTo>
                  <a:pt x="1554858" y="0"/>
                </a:lnTo>
                <a:lnTo>
                  <a:pt x="1554858" y="1035924"/>
                </a:lnTo>
                <a:lnTo>
                  <a:pt x="0" y="10359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19390" y="4381733"/>
            <a:ext cx="1589988" cy="952005"/>
          </a:xfrm>
          <a:custGeom>
            <a:avLst/>
            <a:gdLst/>
            <a:ahLst/>
            <a:cxnLst/>
            <a:rect r="r" b="b" t="t" l="l"/>
            <a:pathLst>
              <a:path h="952005" w="1589988">
                <a:moveTo>
                  <a:pt x="0" y="0"/>
                </a:moveTo>
                <a:lnTo>
                  <a:pt x="1589988" y="0"/>
                </a:lnTo>
                <a:lnTo>
                  <a:pt x="1589988" y="952005"/>
                </a:lnTo>
                <a:lnTo>
                  <a:pt x="0" y="95200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438260" y="6413485"/>
            <a:ext cx="1427584" cy="1427584"/>
          </a:xfrm>
          <a:custGeom>
            <a:avLst/>
            <a:gdLst/>
            <a:ahLst/>
            <a:cxnLst/>
            <a:rect r="r" b="b" t="t" l="l"/>
            <a:pathLst>
              <a:path h="1427584" w="1427584">
                <a:moveTo>
                  <a:pt x="0" y="0"/>
                </a:moveTo>
                <a:lnTo>
                  <a:pt x="1427584" y="0"/>
                </a:lnTo>
                <a:lnTo>
                  <a:pt x="1427584" y="1427584"/>
                </a:lnTo>
                <a:lnTo>
                  <a:pt x="0" y="14275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96734" y="6628841"/>
            <a:ext cx="1920361" cy="1212228"/>
          </a:xfrm>
          <a:custGeom>
            <a:avLst/>
            <a:gdLst/>
            <a:ahLst/>
            <a:cxnLst/>
            <a:rect r="r" b="b" t="t" l="l"/>
            <a:pathLst>
              <a:path h="1212228" w="1920361">
                <a:moveTo>
                  <a:pt x="0" y="0"/>
                </a:moveTo>
                <a:lnTo>
                  <a:pt x="1920362" y="0"/>
                </a:lnTo>
                <a:lnTo>
                  <a:pt x="1920362" y="1212228"/>
                </a:lnTo>
                <a:lnTo>
                  <a:pt x="0" y="121222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28025" y="6521163"/>
            <a:ext cx="1872167" cy="1212228"/>
          </a:xfrm>
          <a:custGeom>
            <a:avLst/>
            <a:gdLst/>
            <a:ahLst/>
            <a:cxnLst/>
            <a:rect r="r" b="b" t="t" l="l"/>
            <a:pathLst>
              <a:path h="1212228" w="1872167">
                <a:moveTo>
                  <a:pt x="0" y="0"/>
                </a:moveTo>
                <a:lnTo>
                  <a:pt x="1872167" y="0"/>
                </a:lnTo>
                <a:lnTo>
                  <a:pt x="1872167" y="1212228"/>
                </a:lnTo>
                <a:lnTo>
                  <a:pt x="0" y="121222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352524" y="6341096"/>
            <a:ext cx="1156854" cy="1499973"/>
          </a:xfrm>
          <a:custGeom>
            <a:avLst/>
            <a:gdLst/>
            <a:ahLst/>
            <a:cxnLst/>
            <a:rect r="r" b="b" t="t" l="l"/>
            <a:pathLst>
              <a:path h="1499973" w="1156854">
                <a:moveTo>
                  <a:pt x="0" y="0"/>
                </a:moveTo>
                <a:lnTo>
                  <a:pt x="1156854" y="0"/>
                </a:lnTo>
                <a:lnTo>
                  <a:pt x="1156854" y="1499973"/>
                </a:lnTo>
                <a:lnTo>
                  <a:pt x="0" y="149997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DAGycptOSgk</dc:identifier>
  <dcterms:modified xsi:type="dcterms:W3CDTF">2011-08-01T06:04:30Z</dcterms:modified>
  <cp:revision>1</cp:revision>
  <dc:title>Gender Discrimination Lawsuit</dc:title>
</cp:coreProperties>
</file>